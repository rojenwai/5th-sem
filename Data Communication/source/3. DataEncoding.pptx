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58" r:id="rId3"/>
    <p:sldId id="273" r:id="rId4"/>
    <p:sldId id="292" r:id="rId5"/>
    <p:sldId id="274" r:id="rId6"/>
    <p:sldId id="275" r:id="rId7"/>
    <p:sldId id="276" r:id="rId8"/>
    <p:sldId id="277" r:id="rId9"/>
    <p:sldId id="293" r:id="rId10"/>
    <p:sldId id="270" r:id="rId11"/>
    <p:sldId id="272" r:id="rId12"/>
    <p:sldId id="278" r:id="rId13"/>
    <p:sldId id="263" r:id="rId14"/>
    <p:sldId id="279" r:id="rId15"/>
    <p:sldId id="280" r:id="rId16"/>
    <p:sldId id="262" r:id="rId17"/>
    <p:sldId id="281" r:id="rId18"/>
    <p:sldId id="282" r:id="rId19"/>
    <p:sldId id="283" r:id="rId20"/>
    <p:sldId id="266" r:id="rId21"/>
    <p:sldId id="267" r:id="rId22"/>
    <p:sldId id="287" r:id="rId23"/>
    <p:sldId id="286" r:id="rId24"/>
    <p:sldId id="290" r:id="rId25"/>
    <p:sldId id="284" r:id="rId26"/>
    <p:sldId id="29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51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D3B4D3-0C6F-412D-B015-59607423082D}" type="datetimeFigureOut">
              <a:rPr lang="en-US" smtClean="0"/>
              <a:pPr/>
              <a:t>8/6/2026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F131AB-3D3B-4BA2-9374-6B22D4116BB6}" type="slidenum">
              <a:rPr lang="en-IN" smtClean="0"/>
              <a:pPr/>
              <a:t>‹#›</a:t>
            </a:fld>
            <a:endParaRPr lang="en-IN"/>
          </a:p>
        </p:txBody>
      </p:sp>
    </p:spTree>
    <p:extLst>
      <p:ext uri="{BB962C8B-B14F-4D97-AF65-F5344CB8AC3E}">
        <p14:creationId xmlns:p14="http://schemas.microsoft.com/office/powerpoint/2010/main" val="3881631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EF131AB-3D3B-4BA2-9374-6B22D4116BB6}" type="slidenum">
              <a:rPr lang="en-IN" smtClean="0"/>
              <a:pPr/>
              <a:t>7</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FEF131AB-3D3B-4BA2-9374-6B22D4116BB6}" type="slidenum">
              <a:rPr lang="en-IN" smtClean="0"/>
              <a:pPr/>
              <a:t>16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3BDBB1E-BE0A-4348-B406-57123726E93A}" type="datetimeFigureOut">
              <a:rPr lang="en-US" smtClean="0"/>
              <a:pPr/>
              <a:t>8/6/2026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105D84-8E0C-48DA-A153-A72C54B47854}"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3BDBB1E-BE0A-4348-B406-57123726E93A}" type="datetimeFigureOut">
              <a:rPr lang="en-US" smtClean="0"/>
              <a:pPr/>
              <a:t>8/6/2026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105D84-8E0C-48DA-A153-A72C54B47854}"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BDBB1E-BE0A-4348-B406-57123726E93A}" type="datetimeFigureOut">
              <a:rPr lang="en-US" smtClean="0"/>
              <a:pPr/>
              <a:t>8/6/2026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105D84-8E0C-48DA-A153-A72C54B47854}"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3BDBB1E-BE0A-4348-B406-57123726E93A}" type="datetimeFigureOut">
              <a:rPr lang="en-US" smtClean="0"/>
              <a:pPr/>
              <a:t>8/6/2026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105D84-8E0C-48DA-A153-A72C54B47854}"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3BDBB1E-BE0A-4348-B406-57123726E93A}" type="datetimeFigureOut">
              <a:rPr lang="en-US" smtClean="0"/>
              <a:pPr/>
              <a:t>8/6/2026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105D84-8E0C-48DA-A153-A72C54B47854}"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3BDBB1E-BE0A-4348-B406-57123726E93A}" type="datetimeFigureOut">
              <a:rPr lang="en-US" smtClean="0"/>
              <a:pPr/>
              <a:t>8/6/2026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105D84-8E0C-48DA-A153-A72C54B47854}"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BDBB1E-BE0A-4348-B406-57123726E93A}" type="datetimeFigureOut">
              <a:rPr lang="en-US" smtClean="0"/>
              <a:pPr/>
              <a:t>8/6/2026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105D84-8E0C-48DA-A153-A72C54B47854}"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BDBB1E-BE0A-4348-B406-57123726E93A}" type="datetimeFigureOut">
              <a:rPr lang="en-US" smtClean="0"/>
              <a:pPr/>
              <a:t>8/6/2026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105D84-8E0C-48DA-A153-A72C54B47854}"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BDBB1E-BE0A-4348-B406-57123726E93A}" type="datetimeFigureOut">
              <a:rPr lang="en-US" smtClean="0"/>
              <a:pPr/>
              <a:t>8/6/2026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105D84-8E0C-48DA-A153-A72C54B47854}"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3BDBB1E-BE0A-4348-B406-57123726E93A}" type="datetimeFigureOut">
              <a:rPr lang="en-US" smtClean="0"/>
              <a:pPr/>
              <a:t>8/6/2026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105D84-8E0C-48DA-A153-A72C54B47854}"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3BDBB1E-BE0A-4348-B406-57123726E93A}" type="datetimeFigureOut">
              <a:rPr lang="en-US" smtClean="0"/>
              <a:pPr/>
              <a:t>8/6/2026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105D84-8E0C-48DA-A153-A72C54B47854}"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BDBB1E-BE0A-4348-B406-57123726E93A}" type="datetimeFigureOut">
              <a:rPr lang="en-US" smtClean="0"/>
              <a:pPr/>
              <a:t>8/6/2026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105D84-8E0C-48DA-A153-A72C54B47854}"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7.xml"/><Relationship Id="rId1" Type="http://schemas.openxmlformats.org/officeDocument/2006/relationships/audio" Target="../media/audio1.wav"/><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7.xml"/><Relationship Id="rId1" Type="http://schemas.openxmlformats.org/officeDocument/2006/relationships/audio" Target="../media/audio2.wav"/><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7.xml"/><Relationship Id="rId1" Type="http://schemas.openxmlformats.org/officeDocument/2006/relationships/audio" Target="../media/audio3.wav"/><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teachcomputerscience.com/characters/"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Digital Transmission</a:t>
            </a:r>
            <a:br>
              <a:rPr lang="en-IN" dirty="0"/>
            </a:br>
            <a:endParaRPr lang="en-IN" dirty="0"/>
          </a:p>
        </p:txBody>
      </p:sp>
      <p:sp>
        <p:nvSpPr>
          <p:cNvPr id="3" name="Content Placeholder 2"/>
          <p:cNvSpPr>
            <a:spLocks noGrp="1"/>
          </p:cNvSpPr>
          <p:nvPr>
            <p:ph idx="1"/>
          </p:nvPr>
        </p:nvSpPr>
        <p:spPr/>
        <p:txBody>
          <a:bodyPr>
            <a:normAutofit fontScale="55000" lnSpcReduction="20000"/>
          </a:bodyPr>
          <a:lstStyle/>
          <a:p>
            <a:r>
              <a:rPr lang="en-IN" dirty="0"/>
              <a:t>Data or information can be stored in two ways, </a:t>
            </a:r>
            <a:r>
              <a:rPr lang="en-IN" dirty="0" err="1"/>
              <a:t>analog</a:t>
            </a:r>
            <a:r>
              <a:rPr lang="en-IN" dirty="0"/>
              <a:t> and digital. For a computer to use the data, it must be in discrete digital form</a:t>
            </a:r>
            <a:r>
              <a:rPr lang="en-IN" dirty="0" smtClean="0"/>
              <a:t>. Similar </a:t>
            </a:r>
            <a:r>
              <a:rPr lang="en-IN" dirty="0"/>
              <a:t>to data, signals can also be in </a:t>
            </a:r>
            <a:r>
              <a:rPr lang="en-IN" dirty="0" err="1"/>
              <a:t>analog</a:t>
            </a:r>
            <a:r>
              <a:rPr lang="en-IN" dirty="0"/>
              <a:t> and digital form. To transmit data digitally, it needs to be first converted to digital form.</a:t>
            </a:r>
          </a:p>
          <a:p>
            <a:r>
              <a:rPr lang="en-IN" dirty="0"/>
              <a:t>Digital-to-Digital Conversion</a:t>
            </a:r>
          </a:p>
          <a:p>
            <a:r>
              <a:rPr lang="en-IN" dirty="0"/>
              <a:t>This section explains how to convert digital data into digital signals. It can be done in two ways, line coding and block coding. For all communications, line coding is necessary whereas block coding is optional.</a:t>
            </a:r>
          </a:p>
          <a:p>
            <a:r>
              <a:rPr lang="en-IN" dirty="0"/>
              <a:t>Line Coding</a:t>
            </a:r>
          </a:p>
          <a:p>
            <a:r>
              <a:rPr lang="en-IN" dirty="0"/>
              <a:t>The process for converting digital data into digital signal is said to be Line Coding. Digital data is found in binary format</a:t>
            </a:r>
            <a:r>
              <a:rPr lang="en-IN" dirty="0" smtClean="0"/>
              <a:t>. It </a:t>
            </a:r>
            <a:r>
              <a:rPr lang="en-IN" dirty="0"/>
              <a:t>is represented (stored) internally as series of 1s and 0s</a:t>
            </a:r>
            <a:r>
              <a:rPr lang="en-IN" dirty="0" smtClean="0"/>
              <a:t>.</a:t>
            </a:r>
          </a:p>
          <a:p>
            <a:r>
              <a:rPr lang="en-IN" dirty="0"/>
              <a:t>The process for converting digital data into digital signal is said to be Line Coding. Digital data is found in binary format. It is represented (stored) internally as series of 1s and 0s</a:t>
            </a:r>
            <a:r>
              <a:rPr lang="en-IN" dirty="0">
                <a:solidFill>
                  <a:srgbClr val="FF0000"/>
                </a:solidFill>
              </a:rPr>
              <a:t>. </a:t>
            </a:r>
            <a:r>
              <a:rPr lang="en-US" dirty="0">
                <a:solidFill>
                  <a:srgbClr val="FF0000"/>
                </a:solidFill>
              </a:rPr>
              <a:t>A common real-world example is sending a document from a computer to a printer via a local cable using Manchester Encoding, where voltage transitions embed clock timing directly into the data signal</a:t>
            </a:r>
          </a:p>
          <a:p>
            <a:endParaRPr lang="en-IN" dirty="0"/>
          </a:p>
          <a:p>
            <a:endParaRPr lang="en-IN" dirty="0"/>
          </a:p>
        </p:txBody>
      </p:sp>
    </p:spTree>
  </p:cSld>
  <p:clrMapOvr>
    <a:masterClrMapping/>
  </p:clrMapOvr>
  <p:transition advTm="244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ne Coding"/>
          <p:cNvPicPr>
            <a:picLocks noChangeAspect="1" noChangeArrowheads="1"/>
          </p:cNvPicPr>
          <p:nvPr/>
        </p:nvPicPr>
        <p:blipFill>
          <a:blip r:embed="rId2"/>
          <a:srcRect/>
          <a:stretch>
            <a:fillRect/>
          </a:stretch>
        </p:blipFill>
        <p:spPr bwMode="auto">
          <a:xfrm>
            <a:off x="1785918" y="357166"/>
            <a:ext cx="5876925" cy="1962150"/>
          </a:xfrm>
          <a:prstGeom prst="rect">
            <a:avLst/>
          </a:prstGeom>
          <a:noFill/>
        </p:spPr>
      </p:pic>
      <p:sp>
        <p:nvSpPr>
          <p:cNvPr id="3" name="Rectangle 2"/>
          <p:cNvSpPr/>
          <p:nvPr/>
        </p:nvSpPr>
        <p:spPr>
          <a:xfrm>
            <a:off x="357158" y="2690336"/>
            <a:ext cx="8572560" cy="523220"/>
          </a:xfrm>
          <a:prstGeom prst="rect">
            <a:avLst/>
          </a:prstGeom>
        </p:spPr>
        <p:txBody>
          <a:bodyPr wrap="square">
            <a:spAutoFit/>
          </a:bodyPr>
          <a:lstStyle/>
          <a:p>
            <a:r>
              <a:rPr lang="en-IN" sz="1400" dirty="0"/>
              <a:t>Digital signal is denoted by discreet signal, which represents digital data</a:t>
            </a:r>
            <a:r>
              <a:rPr lang="en-IN" sz="1400" dirty="0" smtClean="0"/>
              <a:t>. There </a:t>
            </a:r>
            <a:r>
              <a:rPr lang="en-IN" sz="1400" dirty="0"/>
              <a:t>are three types of line coding schemes available</a:t>
            </a:r>
            <a:r>
              <a:rPr lang="en-IN" sz="1400" dirty="0" smtClean="0"/>
              <a:t>:</a:t>
            </a:r>
            <a:endParaRPr lang="en-IN" sz="1400" dirty="0"/>
          </a:p>
        </p:txBody>
      </p:sp>
      <p:pic>
        <p:nvPicPr>
          <p:cNvPr id="1028" name="Picture 4" descr="Line Coding"/>
          <p:cNvPicPr>
            <a:picLocks noChangeAspect="1" noChangeArrowheads="1"/>
          </p:cNvPicPr>
          <p:nvPr/>
        </p:nvPicPr>
        <p:blipFill>
          <a:blip r:embed="rId3"/>
          <a:srcRect/>
          <a:stretch>
            <a:fillRect/>
          </a:stretch>
        </p:blipFill>
        <p:spPr bwMode="auto">
          <a:xfrm>
            <a:off x="2143108" y="3571876"/>
            <a:ext cx="5334000" cy="1524001"/>
          </a:xfrm>
          <a:prstGeom prst="rect">
            <a:avLst/>
          </a:prstGeom>
          <a:noFill/>
        </p:spPr>
      </p:pic>
    </p:spTree>
  </p:cSld>
  <p:clrMapOvr>
    <a:masterClrMapping/>
  </p:clrMapOvr>
  <p:transition advTm="1172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612845"/>
            <a:ext cx="8572560" cy="2031325"/>
          </a:xfrm>
          <a:prstGeom prst="rect">
            <a:avLst/>
          </a:prstGeom>
        </p:spPr>
        <p:txBody>
          <a:bodyPr wrap="square">
            <a:spAutoFit/>
          </a:bodyPr>
          <a:lstStyle/>
          <a:p>
            <a:r>
              <a:rPr lang="en-IN" sz="1400" dirty="0" err="1" smtClean="0"/>
              <a:t>Unipolar</a:t>
            </a:r>
            <a:endParaRPr lang="en-IN" sz="1400" dirty="0" smtClean="0"/>
          </a:p>
          <a:p>
            <a:r>
              <a:rPr lang="en-IN" sz="1400" dirty="0" smtClean="0">
                <a:solidFill>
                  <a:srgbClr val="FF0000"/>
                </a:solidFill>
              </a:rPr>
              <a:t>Digital transmission system sends the voltage pulses over the medium link such as wire or cable.</a:t>
            </a:r>
          </a:p>
          <a:p>
            <a:r>
              <a:rPr lang="en-IN" sz="1400" dirty="0" smtClean="0">
                <a:solidFill>
                  <a:srgbClr val="FF0000"/>
                </a:solidFill>
              </a:rPr>
              <a:t>In most types of encoding, one voltage level represents 0, and another voltage level represents 1</a:t>
            </a:r>
            <a:r>
              <a:rPr lang="en-IN" sz="1400" dirty="0" smtClean="0"/>
              <a:t>.</a:t>
            </a:r>
          </a:p>
          <a:p>
            <a:r>
              <a:rPr lang="en-IN" sz="1400" dirty="0" smtClean="0"/>
              <a:t>The polarity of each pulse determines whether it is positive or negative.</a:t>
            </a:r>
          </a:p>
          <a:p>
            <a:r>
              <a:rPr lang="en-IN" sz="1400" dirty="0" smtClean="0"/>
              <a:t>This type of encoding is known as </a:t>
            </a:r>
            <a:r>
              <a:rPr lang="en-IN" sz="1400" dirty="0" err="1" smtClean="0"/>
              <a:t>Unipolar</a:t>
            </a:r>
            <a:r>
              <a:rPr lang="en-IN" sz="1400" dirty="0" smtClean="0"/>
              <a:t> encoding as it uses only one polarity.</a:t>
            </a:r>
          </a:p>
          <a:p>
            <a:r>
              <a:rPr lang="en-IN" sz="1400" dirty="0" smtClean="0"/>
              <a:t>In </a:t>
            </a:r>
            <a:r>
              <a:rPr lang="en-IN" sz="1400" dirty="0" err="1" smtClean="0"/>
              <a:t>Unipolar</a:t>
            </a:r>
            <a:r>
              <a:rPr lang="en-IN" sz="1400" dirty="0" smtClean="0"/>
              <a:t> encoding, the polarity is assigned to the 1 binary state.</a:t>
            </a:r>
          </a:p>
          <a:p>
            <a:r>
              <a:rPr lang="en-IN" sz="1400" dirty="0" smtClean="0"/>
              <a:t>In this, 1s are represented as a positive value and 0s are represented as a zero value.</a:t>
            </a:r>
          </a:p>
          <a:p>
            <a:r>
              <a:rPr lang="en-IN" sz="1400" dirty="0" smtClean="0"/>
              <a:t>In </a:t>
            </a:r>
            <a:r>
              <a:rPr lang="en-IN" sz="1400" dirty="0" err="1" smtClean="0"/>
              <a:t>Unipolar</a:t>
            </a:r>
            <a:r>
              <a:rPr lang="en-IN" sz="1400" dirty="0" smtClean="0"/>
              <a:t> Encoding, '1' is considered as a high voltage and '0' is considered as a zero voltage.</a:t>
            </a:r>
          </a:p>
          <a:p>
            <a:r>
              <a:rPr lang="en-IN" sz="1400" dirty="0" err="1" smtClean="0"/>
              <a:t>Unipolar</a:t>
            </a:r>
            <a:r>
              <a:rPr lang="en-IN" sz="1400" dirty="0" smtClean="0"/>
              <a:t> encoding is simpler and inexpensive to implement.</a:t>
            </a:r>
            <a:endParaRPr lang="en-IN" sz="1400" dirty="0"/>
          </a:p>
        </p:txBody>
      </p:sp>
      <p:pic>
        <p:nvPicPr>
          <p:cNvPr id="1026" name="Picture 2" descr="Digital Transmission"/>
          <p:cNvPicPr>
            <a:picLocks noChangeAspect="1" noChangeArrowheads="1"/>
          </p:cNvPicPr>
          <p:nvPr/>
        </p:nvPicPr>
        <p:blipFill>
          <a:blip r:embed="rId2"/>
          <a:srcRect/>
          <a:stretch>
            <a:fillRect/>
          </a:stretch>
        </p:blipFill>
        <p:spPr bwMode="auto">
          <a:xfrm>
            <a:off x="857224" y="2643182"/>
            <a:ext cx="4600575" cy="2324101"/>
          </a:xfrm>
          <a:prstGeom prst="rect">
            <a:avLst/>
          </a:prstGeom>
          <a:noFill/>
        </p:spPr>
      </p:pic>
      <p:sp>
        <p:nvSpPr>
          <p:cNvPr id="4" name="Rectangle 3"/>
          <p:cNvSpPr/>
          <p:nvPr/>
        </p:nvSpPr>
        <p:spPr>
          <a:xfrm>
            <a:off x="571472" y="5214950"/>
            <a:ext cx="8215370" cy="738664"/>
          </a:xfrm>
          <a:prstGeom prst="rect">
            <a:avLst/>
          </a:prstGeom>
        </p:spPr>
        <p:txBody>
          <a:bodyPr wrap="square">
            <a:spAutoFit/>
          </a:bodyPr>
          <a:lstStyle/>
          <a:p>
            <a:r>
              <a:rPr lang="en-IN" sz="1400" dirty="0" smtClean="0"/>
              <a:t>Unipolar encoding has two problems that make this scheme less desirable:</a:t>
            </a:r>
          </a:p>
          <a:p>
            <a:r>
              <a:rPr lang="en-IN" sz="1400" dirty="0" smtClean="0"/>
              <a:t>DC Component</a:t>
            </a:r>
          </a:p>
          <a:p>
            <a:r>
              <a:rPr lang="en-IN" sz="1400" dirty="0" smtClean="0"/>
              <a:t>Synchronization</a:t>
            </a:r>
            <a:endParaRPr lang="en-IN" sz="1400" dirty="0"/>
          </a:p>
        </p:txBody>
      </p:sp>
    </p:spTree>
  </p:cSld>
  <p:clrMapOvr>
    <a:masterClrMapping/>
  </p:clrMapOvr>
  <p:transition advTm="3597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9592" y="620688"/>
            <a:ext cx="7920880" cy="2862322"/>
          </a:xfrm>
          <a:prstGeom prst="rect">
            <a:avLst/>
          </a:prstGeom>
        </p:spPr>
        <p:txBody>
          <a:bodyPr wrap="square">
            <a:spAutoFit/>
          </a:bodyPr>
          <a:lstStyle/>
          <a:p>
            <a:r>
              <a:rPr lang="en-US" dirty="0"/>
              <a:t>The presence of a DC component can cause problems with signal transmission over long distances, while the lack of a built-in clocking mechanism makes it difficult for the receiver to synchronize with the sender's timing. </a:t>
            </a:r>
            <a:endParaRPr lang="en-US" dirty="0" smtClean="0"/>
          </a:p>
          <a:p>
            <a:r>
              <a:rPr lang="en-US" dirty="0"/>
              <a:t>This DC component can be problematic because it can cause signal distortion and loss of data, especially when transmitted over long distances or through AC-coupled communication systems. </a:t>
            </a:r>
            <a:endParaRPr lang="en-US" dirty="0" smtClean="0"/>
          </a:p>
          <a:p>
            <a:r>
              <a:rPr lang="en-US" dirty="0">
                <a:solidFill>
                  <a:srgbClr val="FF0000"/>
                </a:solidFill>
              </a:rPr>
              <a:t>DC (Direct Current) component introduces a </a:t>
            </a:r>
            <a:r>
              <a:rPr lang="en-US" dirty="0" smtClean="0">
                <a:solidFill>
                  <a:srgbClr val="FF0000"/>
                </a:solidFill>
              </a:rPr>
              <a:t>zero-frequency(rate of change of signal(voltage) per sec) </a:t>
            </a:r>
            <a:r>
              <a:rPr lang="en-US" dirty="0">
                <a:solidFill>
                  <a:srgbClr val="FF0000"/>
                </a:solidFill>
              </a:rPr>
              <a:t>offset that creates major issues in communication systems.</a:t>
            </a:r>
          </a:p>
          <a:p>
            <a:r>
              <a:rPr lang="en-US" dirty="0">
                <a:solidFill>
                  <a:srgbClr val="FF0000"/>
                </a:solidFill>
              </a:rPr>
              <a:t>A DC component represents a constant voltage offset that carries no actual </a:t>
            </a:r>
            <a:r>
              <a:rPr lang="en-US" dirty="0" smtClean="0">
                <a:solidFill>
                  <a:srgbClr val="FF0000"/>
                </a:solidFill>
              </a:rPr>
              <a:t>data</a:t>
            </a:r>
            <a:endParaRPr lang="en-US" dirty="0">
              <a:solidFill>
                <a:srgbClr val="FF0000"/>
              </a:solidFill>
            </a:endParaRPr>
          </a:p>
          <a:p>
            <a:endParaRPr lang="en-IN" dirty="0"/>
          </a:p>
        </p:txBody>
      </p:sp>
    </p:spTree>
    <p:extLst>
      <p:ext uri="{BB962C8B-B14F-4D97-AF65-F5344CB8AC3E}">
        <p14:creationId xmlns:p14="http://schemas.microsoft.com/office/powerpoint/2010/main" val="11027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500042"/>
            <a:ext cx="8215370" cy="954107"/>
          </a:xfrm>
          <a:prstGeom prst="rect">
            <a:avLst/>
          </a:prstGeom>
        </p:spPr>
        <p:txBody>
          <a:bodyPr wrap="square">
            <a:spAutoFit/>
          </a:bodyPr>
          <a:lstStyle/>
          <a:p>
            <a:r>
              <a:rPr lang="en-IN" sz="1400" dirty="0" smtClean="0"/>
              <a:t>Polar</a:t>
            </a:r>
          </a:p>
          <a:p>
            <a:r>
              <a:rPr lang="en-IN" sz="1400" dirty="0" smtClean="0"/>
              <a:t>Polar encoding is an encoding scheme that uses two voltage levels: one is positive, and another is negative.</a:t>
            </a:r>
          </a:p>
          <a:p>
            <a:r>
              <a:rPr lang="en-IN" sz="1400" dirty="0" smtClean="0"/>
              <a:t>By using two voltage levels, an average voltage level is reduced, and the DC component problem of </a:t>
            </a:r>
            <a:r>
              <a:rPr lang="en-IN" sz="1400" dirty="0" err="1" smtClean="0"/>
              <a:t>unipolar</a:t>
            </a:r>
            <a:r>
              <a:rPr lang="en-IN" sz="1400" dirty="0" smtClean="0"/>
              <a:t> encoding scheme is alleviated.</a:t>
            </a:r>
            <a:endParaRPr lang="en-IN" sz="1400" dirty="0"/>
          </a:p>
        </p:txBody>
      </p:sp>
      <p:pic>
        <p:nvPicPr>
          <p:cNvPr id="32770" name="Picture 2" descr="Digital Transmission"/>
          <p:cNvPicPr>
            <a:picLocks noChangeAspect="1" noChangeArrowheads="1"/>
          </p:cNvPicPr>
          <p:nvPr/>
        </p:nvPicPr>
        <p:blipFill>
          <a:blip r:embed="rId2"/>
          <a:srcRect/>
          <a:stretch>
            <a:fillRect/>
          </a:stretch>
        </p:blipFill>
        <p:spPr bwMode="auto">
          <a:xfrm>
            <a:off x="928662" y="1428736"/>
            <a:ext cx="6124575" cy="2686051"/>
          </a:xfrm>
          <a:prstGeom prst="rect">
            <a:avLst/>
          </a:prstGeom>
          <a:noFill/>
        </p:spPr>
      </p:pic>
    </p:spTree>
  </p:cSld>
  <p:clrMapOvr>
    <a:masterClrMapping/>
  </p:clrMapOvr>
  <p:transition advTm="16301"/>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500042"/>
            <a:ext cx="8501122" cy="1754326"/>
          </a:xfrm>
          <a:prstGeom prst="rect">
            <a:avLst/>
          </a:prstGeom>
        </p:spPr>
        <p:txBody>
          <a:bodyPr wrap="square">
            <a:spAutoFit/>
          </a:bodyPr>
          <a:lstStyle/>
          <a:p>
            <a:r>
              <a:rPr lang="en-IN" sz="1200" dirty="0" smtClean="0"/>
              <a:t>NRZ</a:t>
            </a:r>
          </a:p>
          <a:p>
            <a:r>
              <a:rPr lang="en-IN" sz="1200" dirty="0" smtClean="0"/>
              <a:t>NRZ stands for Non-return zero.</a:t>
            </a:r>
          </a:p>
          <a:p>
            <a:r>
              <a:rPr lang="en-IN" sz="1200" dirty="0" smtClean="0"/>
              <a:t>In NRZ encoding, the level of the signal can be represented either positive or negative.</a:t>
            </a:r>
          </a:p>
          <a:p>
            <a:r>
              <a:rPr lang="en-IN" sz="1200" b="1" dirty="0" smtClean="0"/>
              <a:t>The two most common methods used in NRZ are:</a:t>
            </a:r>
            <a:endParaRPr lang="en-IN" sz="1200" dirty="0" smtClean="0"/>
          </a:p>
          <a:p>
            <a:r>
              <a:rPr lang="en-IN" sz="1200" b="1" dirty="0" smtClean="0"/>
              <a:t>NRZ-L:</a:t>
            </a:r>
            <a:r>
              <a:rPr lang="en-IN" sz="1200" dirty="0" smtClean="0"/>
              <a:t> In NRZ-L encoding, the level of the signal depends on the type of the bit that it represents. If a bit is 1 or 0, then their voltages will be positive and negative respectively. Therefore, we can say that the level of the signal is dependent on the state of the bit.</a:t>
            </a:r>
          </a:p>
          <a:p>
            <a:r>
              <a:rPr lang="en-IN" sz="1200" b="1" dirty="0" smtClean="0"/>
              <a:t>NRZ-I:</a:t>
            </a:r>
            <a:r>
              <a:rPr lang="en-IN" sz="1200" dirty="0" smtClean="0"/>
              <a:t> NRZ-I is an inversion of the voltage level that represents 1 bit. In the NRZ-I encoding scheme, a transition occurs between the positive and negative voltage that represents 1 bit. In this scheme, 0 bit represents no change and 1 bit represents a change in voltage level.</a:t>
            </a:r>
            <a:endParaRPr lang="en-IN" sz="1200" dirty="0"/>
          </a:p>
        </p:txBody>
      </p:sp>
      <p:pic>
        <p:nvPicPr>
          <p:cNvPr id="3" name="Picture 2" descr="Unipolar NRZ"/>
          <p:cNvPicPr>
            <a:picLocks noChangeAspect="1" noChangeArrowheads="1"/>
          </p:cNvPicPr>
          <p:nvPr/>
        </p:nvPicPr>
        <p:blipFill>
          <a:blip r:embed="rId2"/>
          <a:srcRect/>
          <a:stretch>
            <a:fillRect/>
          </a:stretch>
        </p:blipFill>
        <p:spPr bwMode="auto">
          <a:xfrm>
            <a:off x="1928794" y="2643182"/>
            <a:ext cx="4667250" cy="3071835"/>
          </a:xfrm>
          <a:prstGeom prst="rect">
            <a:avLst/>
          </a:prstGeom>
          <a:noFill/>
        </p:spPr>
      </p:pic>
      <p:sp>
        <p:nvSpPr>
          <p:cNvPr id="4" name="Rectangle 3"/>
          <p:cNvSpPr/>
          <p:nvPr/>
        </p:nvSpPr>
        <p:spPr>
          <a:xfrm>
            <a:off x="214282" y="5929330"/>
            <a:ext cx="8786842" cy="307777"/>
          </a:xfrm>
          <a:prstGeom prst="rect">
            <a:avLst/>
          </a:prstGeom>
        </p:spPr>
        <p:txBody>
          <a:bodyPr wrap="square">
            <a:spAutoFit/>
          </a:bodyPr>
          <a:lstStyle/>
          <a:p>
            <a:r>
              <a:rPr lang="en-IN" sz="1200" dirty="0"/>
              <a:t>NRZ-L changes voltage level at when a different bit is encountered whereas NRZ-I changes voltage when a 1 is encountered</a:t>
            </a:r>
            <a:r>
              <a:rPr lang="en-IN" sz="1400" dirty="0" smtClean="0"/>
              <a:t>.</a:t>
            </a:r>
            <a:endParaRPr lang="en-IN" sz="1400" dirty="0"/>
          </a:p>
        </p:txBody>
      </p:sp>
    </p:spTree>
  </p:cSld>
  <p:clrMapOvr>
    <a:masterClrMapping/>
  </p:clrMapOvr>
  <p:transition advTm="5811"/>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14290"/>
            <a:ext cx="8429684" cy="1569660"/>
          </a:xfrm>
          <a:prstGeom prst="rect">
            <a:avLst/>
          </a:prstGeom>
        </p:spPr>
        <p:txBody>
          <a:bodyPr wrap="square">
            <a:spAutoFit/>
          </a:bodyPr>
          <a:lstStyle/>
          <a:p>
            <a:r>
              <a:rPr lang="en-IN" sz="1200" dirty="0" smtClean="0"/>
              <a:t>RZ</a:t>
            </a:r>
          </a:p>
          <a:p>
            <a:r>
              <a:rPr lang="en-IN" sz="1200" dirty="0" smtClean="0"/>
              <a:t>RZ stands for Return to zero.</a:t>
            </a:r>
          </a:p>
          <a:p>
            <a:r>
              <a:rPr lang="en-IN" sz="1200" dirty="0" smtClean="0"/>
              <a:t>There must be a signal change for each bit to achieve synchronization. However, to change with every bit, we need to have three values: positive, negative and zero.</a:t>
            </a:r>
          </a:p>
          <a:p>
            <a:r>
              <a:rPr lang="en-IN" sz="1200" dirty="0" smtClean="0"/>
              <a:t>RZ is an encoding scheme that provides three values, positive voltage represents 1, the negative voltage represents 0, and zero voltage represents none.</a:t>
            </a:r>
          </a:p>
          <a:p>
            <a:r>
              <a:rPr lang="en-IN" sz="1200" dirty="0" smtClean="0"/>
              <a:t>In the RZ scheme, halfway through each interval, the signal returns to zero.</a:t>
            </a:r>
          </a:p>
          <a:p>
            <a:r>
              <a:rPr lang="en-IN" sz="1200" dirty="0" smtClean="0"/>
              <a:t>In RZ scheme, 1 bit is represented by positive-to-zero and 0 bit is represented by negative-to-zero.</a:t>
            </a:r>
            <a:endParaRPr lang="en-IN" sz="1200" dirty="0"/>
          </a:p>
        </p:txBody>
      </p:sp>
      <p:pic>
        <p:nvPicPr>
          <p:cNvPr id="1026" name="Picture 2" descr="Digital Transmission"/>
          <p:cNvPicPr>
            <a:picLocks noChangeAspect="1" noChangeArrowheads="1"/>
          </p:cNvPicPr>
          <p:nvPr/>
        </p:nvPicPr>
        <p:blipFill>
          <a:blip r:embed="rId3"/>
          <a:srcRect/>
          <a:stretch>
            <a:fillRect/>
          </a:stretch>
        </p:blipFill>
        <p:spPr bwMode="auto">
          <a:xfrm>
            <a:off x="3428992" y="2143116"/>
            <a:ext cx="4314825" cy="3695701"/>
          </a:xfrm>
          <a:prstGeom prst="rect">
            <a:avLst/>
          </a:prstGeom>
          <a:noFill/>
        </p:spPr>
      </p:pic>
    </p:spTree>
  </p:cSld>
  <p:clrMapOvr>
    <a:masterClrMapping/>
  </p:clrMapOvr>
  <p:transition advTm="2331"/>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357166"/>
            <a:ext cx="8429668" cy="2862322"/>
          </a:xfrm>
          <a:prstGeom prst="rect">
            <a:avLst/>
          </a:prstGeom>
        </p:spPr>
        <p:txBody>
          <a:bodyPr wrap="square">
            <a:spAutoFit/>
          </a:bodyPr>
          <a:lstStyle/>
          <a:p>
            <a:r>
              <a:rPr lang="en-IN" sz="1200" dirty="0" err="1" smtClean="0"/>
              <a:t>Biphase</a:t>
            </a:r>
            <a:endParaRPr lang="en-IN" sz="1200" dirty="0" smtClean="0"/>
          </a:p>
          <a:p>
            <a:r>
              <a:rPr lang="en-IN" sz="1200" dirty="0" err="1" smtClean="0"/>
              <a:t>Biphase</a:t>
            </a:r>
            <a:r>
              <a:rPr lang="en-IN" sz="1200" dirty="0" smtClean="0"/>
              <a:t> is an encoding scheme in which signal changes at the middle of the bit interval but does not return to zero. The signal level is checked twice for every bit time, both initially and in the middle.</a:t>
            </a:r>
          </a:p>
          <a:p>
            <a:r>
              <a:rPr lang="en-IN" sz="1200" dirty="0" err="1" smtClean="0"/>
              <a:t>Biphase</a:t>
            </a:r>
            <a:r>
              <a:rPr lang="en-IN" sz="1200" dirty="0" smtClean="0"/>
              <a:t> encoding is implemented in two different ways:</a:t>
            </a:r>
          </a:p>
          <a:p>
            <a:r>
              <a:rPr lang="en-IN" sz="1200" b="1" dirty="0" smtClean="0"/>
              <a:t>Manchester (According to GE Thomson)</a:t>
            </a:r>
            <a:endParaRPr lang="en-IN" sz="1200" dirty="0" smtClean="0"/>
          </a:p>
          <a:p>
            <a:r>
              <a:rPr lang="en-IN" sz="1200" dirty="0" smtClean="0"/>
              <a:t>In this type of coding, the transition is done at the middle of the bit-interval. The transition for the resultant pulse is from High to Low in the middle of the interval, for the input bit 1. While the transition is from Low to High for the input bit </a:t>
            </a:r>
            <a:r>
              <a:rPr lang="en-IN" sz="1200" b="1" dirty="0" smtClean="0"/>
              <a:t>0</a:t>
            </a:r>
            <a:r>
              <a:rPr lang="en-IN" sz="1200" dirty="0" smtClean="0"/>
              <a:t>.</a:t>
            </a:r>
          </a:p>
          <a:p>
            <a:r>
              <a:rPr lang="en-IN" sz="1200" b="1" dirty="0"/>
              <a:t>Manchester (According </a:t>
            </a:r>
            <a:r>
              <a:rPr lang="en-IN" sz="1200" b="1" dirty="0" smtClean="0"/>
              <a:t>to IEEE standard(by default))</a:t>
            </a:r>
            <a:endParaRPr lang="en-IN" sz="1200" dirty="0"/>
          </a:p>
          <a:p>
            <a:r>
              <a:rPr lang="en-IN" sz="1200" dirty="0"/>
              <a:t>In this type of coding, the transition is done at the middle of the bit-interval. The transition for the resultant pulse is from High to Low in the middle of the interval, for the input bit </a:t>
            </a:r>
            <a:r>
              <a:rPr lang="en-IN" sz="1200" dirty="0" smtClean="0"/>
              <a:t>0. </a:t>
            </a:r>
            <a:r>
              <a:rPr lang="en-IN" sz="1200" dirty="0"/>
              <a:t>While the transition is from Low to High for the input bit </a:t>
            </a:r>
            <a:r>
              <a:rPr lang="en-IN" sz="1200" b="1" dirty="0" smtClean="0"/>
              <a:t>1</a:t>
            </a:r>
            <a:r>
              <a:rPr lang="en-IN" sz="1200" dirty="0" smtClean="0"/>
              <a:t>.</a:t>
            </a:r>
            <a:endParaRPr lang="en-IN" sz="1200" dirty="0"/>
          </a:p>
          <a:p>
            <a:endParaRPr lang="en-IN" sz="1200" dirty="0" smtClean="0"/>
          </a:p>
          <a:p>
            <a:r>
              <a:rPr lang="en-IN" sz="1200" b="1" dirty="0" smtClean="0"/>
              <a:t>Differential Manchester</a:t>
            </a:r>
          </a:p>
          <a:p>
            <a:r>
              <a:rPr lang="en-IN" sz="1200" dirty="0" smtClean="0"/>
              <a:t>In this type of coding, there always occurs a transition in the middle of the bit interval. If there occurs a transition at the beginning of the bit interval, then the input bit is </a:t>
            </a:r>
            <a:r>
              <a:rPr lang="en-IN" sz="1200" b="1" dirty="0" smtClean="0"/>
              <a:t>0</a:t>
            </a:r>
            <a:r>
              <a:rPr lang="en-IN" sz="1200" dirty="0" smtClean="0"/>
              <a:t>. If no transition occurs at the beginning of the bit interval, then the input bit is </a:t>
            </a:r>
            <a:r>
              <a:rPr lang="en-IN" sz="1200" b="1" dirty="0" smtClean="0"/>
              <a:t>1</a:t>
            </a:r>
            <a:r>
              <a:rPr lang="en-IN" sz="1200" dirty="0" smtClean="0"/>
              <a:t>.</a:t>
            </a:r>
          </a:p>
          <a:p>
            <a:endParaRPr lang="en-IN" sz="1200" dirty="0"/>
          </a:p>
        </p:txBody>
      </p:sp>
      <p:pic>
        <p:nvPicPr>
          <p:cNvPr id="3" name="Picture 2" descr="Physical Layer"/>
          <p:cNvPicPr>
            <a:picLocks noChangeAspect="1" noChangeArrowheads="1"/>
          </p:cNvPicPr>
          <p:nvPr/>
        </p:nvPicPr>
        <p:blipFill>
          <a:blip r:embed="rId2"/>
          <a:srcRect/>
          <a:stretch>
            <a:fillRect/>
          </a:stretch>
        </p:blipFill>
        <p:spPr bwMode="auto">
          <a:xfrm>
            <a:off x="1619672" y="3501008"/>
            <a:ext cx="6572196" cy="2343128"/>
          </a:xfrm>
          <a:prstGeom prst="rect">
            <a:avLst/>
          </a:prstGeom>
          <a:noFill/>
        </p:spPr>
      </p:pic>
    </p:spTree>
  </p:cSld>
  <p:clrMapOvr>
    <a:masterClrMapping/>
  </p:clrMapOvr>
  <p:transition advTm="189791"/>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5616" y="764704"/>
            <a:ext cx="2748060" cy="369332"/>
          </a:xfrm>
          <a:prstGeom prst="rect">
            <a:avLst/>
          </a:prstGeom>
        </p:spPr>
        <p:txBody>
          <a:bodyPr wrap="none">
            <a:spAutoFit/>
          </a:bodyPr>
          <a:lstStyle/>
          <a:p>
            <a:r>
              <a:rPr lang="en-US" dirty="0"/>
              <a:t>According to IEEE standard.</a:t>
            </a:r>
            <a:endParaRPr lang="en-IN" dirty="0"/>
          </a:p>
        </p:txBody>
      </p:sp>
      <p:pic>
        <p:nvPicPr>
          <p:cNvPr id="1027" name="Picture 3" descr="C:\Users\PC\Downloads\IEEE_standar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628800"/>
            <a:ext cx="6696075"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2947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PPT - The Physical Layer , Encoding Schemes: PowerPoint Presentation, free  download - ID:1028291"/>
          <p:cNvPicPr>
            <a:picLocks noChangeAspect="1" noChangeArrowheads="1"/>
          </p:cNvPicPr>
          <p:nvPr/>
        </p:nvPicPr>
        <p:blipFill>
          <a:blip r:embed="rId2"/>
          <a:srcRect/>
          <a:stretch>
            <a:fillRect/>
          </a:stretch>
        </p:blipFill>
        <p:spPr bwMode="auto">
          <a:xfrm>
            <a:off x="1214414" y="928670"/>
            <a:ext cx="5786478" cy="4500594"/>
          </a:xfrm>
          <a:prstGeom prst="rect">
            <a:avLst/>
          </a:prstGeom>
          <a:noFill/>
        </p:spPr>
      </p:pic>
    </p:spTree>
  </p:cSld>
  <p:clrMapOvr>
    <a:masterClrMapping/>
  </p:clrMapOvr>
  <p:transition advTm="1090"/>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Line coding"/>
          <p:cNvPicPr>
            <a:picLocks noChangeAspect="1" noChangeArrowheads="1"/>
          </p:cNvPicPr>
          <p:nvPr/>
        </p:nvPicPr>
        <p:blipFill>
          <a:blip r:embed="rId2"/>
          <a:srcRect/>
          <a:stretch>
            <a:fillRect/>
          </a:stretch>
        </p:blipFill>
        <p:spPr bwMode="auto">
          <a:xfrm>
            <a:off x="1214414" y="1285860"/>
            <a:ext cx="6076950" cy="4305301"/>
          </a:xfrm>
          <a:prstGeom prst="rect">
            <a:avLst/>
          </a:prstGeom>
          <a:noFill/>
        </p:spPr>
      </p:pic>
    </p:spTree>
  </p:cSld>
  <p:clrMapOvr>
    <a:masterClrMapping/>
  </p:clrMapOvr>
  <p:transition advTm="25180"/>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Digital Transmission"/>
          <p:cNvPicPr>
            <a:picLocks noChangeAspect="1" noChangeArrowheads="1"/>
          </p:cNvPicPr>
          <p:nvPr/>
        </p:nvPicPr>
        <p:blipFill>
          <a:blip r:embed="rId2"/>
          <a:srcRect/>
          <a:stretch>
            <a:fillRect/>
          </a:stretch>
        </p:blipFill>
        <p:spPr bwMode="auto">
          <a:xfrm>
            <a:off x="1500166" y="285728"/>
            <a:ext cx="3848100" cy="1785950"/>
          </a:xfrm>
          <a:prstGeom prst="rect">
            <a:avLst/>
          </a:prstGeom>
          <a:noFill/>
        </p:spPr>
      </p:pic>
      <p:sp>
        <p:nvSpPr>
          <p:cNvPr id="3" name="Rectangle 2"/>
          <p:cNvSpPr/>
          <p:nvPr/>
        </p:nvSpPr>
        <p:spPr>
          <a:xfrm>
            <a:off x="571472" y="2285992"/>
            <a:ext cx="8429684" cy="1354217"/>
          </a:xfrm>
          <a:prstGeom prst="rect">
            <a:avLst/>
          </a:prstGeom>
        </p:spPr>
        <p:txBody>
          <a:bodyPr wrap="square">
            <a:spAutoFit/>
          </a:bodyPr>
          <a:lstStyle/>
          <a:p>
            <a:pPr lvl="0" eaLnBrk="0" fontAlgn="base" hangingPunct="0">
              <a:spcBef>
                <a:spcPct val="0"/>
              </a:spcBef>
              <a:spcAft>
                <a:spcPct val="0"/>
              </a:spcAft>
            </a:pPr>
            <a:r>
              <a:rPr lang="en-US" sz="1200" b="1" dirty="0" smtClean="0">
                <a:cs typeface="Arial" pitchFamily="34" charset="0"/>
              </a:rPr>
              <a:t>Bipolar Encoding</a:t>
            </a:r>
          </a:p>
          <a:p>
            <a:r>
              <a:rPr lang="en-IN" sz="1400" dirty="0" smtClean="0"/>
              <a:t>AMI</a:t>
            </a:r>
          </a:p>
          <a:p>
            <a:r>
              <a:rPr lang="en-IN" sz="1400" dirty="0" smtClean="0"/>
              <a:t>AMI stands for </a:t>
            </a:r>
            <a:r>
              <a:rPr lang="en-IN" sz="1400" b="1" i="1" dirty="0" smtClean="0"/>
              <a:t>alternate mark inversion</a:t>
            </a:r>
            <a:r>
              <a:rPr lang="en-IN" sz="1400" dirty="0" smtClean="0"/>
              <a:t> where mark work comes from telegraphy which means 1. So, it can be redefined as </a:t>
            </a:r>
            <a:r>
              <a:rPr lang="en-IN" sz="1400" b="1" dirty="0" smtClean="0"/>
              <a:t>alternate 1 inversion</a:t>
            </a:r>
            <a:r>
              <a:rPr lang="en-IN" sz="1400" dirty="0" smtClean="0"/>
              <a:t>.</a:t>
            </a:r>
          </a:p>
          <a:p>
            <a:r>
              <a:rPr lang="en-IN" sz="1400" dirty="0" smtClean="0"/>
              <a:t>In Bipolar AMI encoding scheme, 0 bit is represented by zero level and 1 bit is represented by alternating positive and negative voltages.</a:t>
            </a:r>
          </a:p>
        </p:txBody>
      </p:sp>
      <p:pic>
        <p:nvPicPr>
          <p:cNvPr id="4" name="Picture 2" descr="https://www.tutorialspoint.com/data_communication_computer_network/images/bipolar.jpg"/>
          <p:cNvPicPr>
            <a:picLocks noChangeAspect="1" noChangeArrowheads="1"/>
          </p:cNvPicPr>
          <p:nvPr/>
        </p:nvPicPr>
        <p:blipFill>
          <a:blip r:embed="rId3"/>
          <a:srcRect/>
          <a:stretch>
            <a:fillRect/>
          </a:stretch>
        </p:blipFill>
        <p:spPr bwMode="auto">
          <a:xfrm>
            <a:off x="1571604" y="3857628"/>
            <a:ext cx="4752975" cy="2495550"/>
          </a:xfrm>
          <a:prstGeom prst="rect">
            <a:avLst/>
          </a:prstGeom>
          <a:noFill/>
        </p:spPr>
      </p:pic>
    </p:spTree>
  </p:cSld>
  <p:clrMapOvr>
    <a:masterClrMapping/>
  </p:clrMapOvr>
  <p:transition advTm="37821"/>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57158" y="285728"/>
            <a:ext cx="8072494" cy="1046440"/>
          </a:xfrm>
          <a:prstGeom prst="rect">
            <a:avLst/>
          </a:prstGeom>
        </p:spPr>
        <p:txBody>
          <a:bodyPr wrap="square">
            <a:spAutoFit/>
          </a:bodyPr>
          <a:lstStyle/>
          <a:p>
            <a:r>
              <a:rPr lang="en-IN" sz="1400" b="1" dirty="0" smtClean="0"/>
              <a:t>Advantage:</a:t>
            </a:r>
            <a:endParaRPr lang="en-IN" sz="1400" dirty="0" smtClean="0"/>
          </a:p>
          <a:p>
            <a:r>
              <a:rPr lang="en-IN" sz="1200" dirty="0" smtClean="0"/>
              <a:t>DC component is zero.</a:t>
            </a:r>
          </a:p>
          <a:p>
            <a:r>
              <a:rPr lang="en-IN" sz="1200" dirty="0" smtClean="0"/>
              <a:t>Sequence of 1s bits are synchronized.</a:t>
            </a:r>
          </a:p>
          <a:p>
            <a:r>
              <a:rPr lang="en-IN" sz="1200" b="1" dirty="0" smtClean="0"/>
              <a:t>Disadvantage:</a:t>
            </a:r>
            <a:endParaRPr lang="en-IN" sz="1200" dirty="0" smtClean="0"/>
          </a:p>
          <a:p>
            <a:r>
              <a:rPr lang="en-IN" sz="1200" dirty="0" smtClean="0"/>
              <a:t>This encoding scheme does not ensure the synchronization of a long string of 0s bits.</a:t>
            </a:r>
            <a:endParaRPr lang="en-IN" sz="1200" dirty="0"/>
          </a:p>
        </p:txBody>
      </p:sp>
      <p:sp>
        <p:nvSpPr>
          <p:cNvPr id="7" name="Rectangle 6"/>
          <p:cNvSpPr/>
          <p:nvPr/>
        </p:nvSpPr>
        <p:spPr>
          <a:xfrm>
            <a:off x="285720" y="1357298"/>
            <a:ext cx="8572560" cy="1569660"/>
          </a:xfrm>
          <a:prstGeom prst="rect">
            <a:avLst/>
          </a:prstGeom>
        </p:spPr>
        <p:txBody>
          <a:bodyPr wrap="square">
            <a:spAutoFit/>
          </a:bodyPr>
          <a:lstStyle/>
          <a:p>
            <a:r>
              <a:rPr lang="en-IN" sz="1200" dirty="0" smtClean="0"/>
              <a:t>B8ZS</a:t>
            </a:r>
          </a:p>
          <a:p>
            <a:r>
              <a:rPr lang="en-IN" sz="1200" dirty="0" smtClean="0"/>
              <a:t>B8ZS stands for </a:t>
            </a:r>
            <a:r>
              <a:rPr lang="en-IN" sz="1200" b="1" dirty="0" smtClean="0"/>
              <a:t>Bipolar 8-Zero Substitution</a:t>
            </a:r>
            <a:r>
              <a:rPr lang="en-IN" sz="1200" dirty="0" smtClean="0"/>
              <a:t>.</a:t>
            </a:r>
          </a:p>
          <a:p>
            <a:r>
              <a:rPr lang="en-IN" sz="1200" dirty="0" smtClean="0"/>
              <a:t>This technique is adopted in North America to provide synchronization of a long sequence of 0s bits.</a:t>
            </a:r>
          </a:p>
          <a:p>
            <a:r>
              <a:rPr lang="en-IN" sz="1200" dirty="0" smtClean="0"/>
              <a:t>In most of the cases, the functionality of B8ZS is similar to the bipolar AMI, but the only difference is that it provides the synchronization when a long sequence of 0s bits occur.</a:t>
            </a:r>
          </a:p>
          <a:p>
            <a:r>
              <a:rPr lang="en-IN" sz="1200" dirty="0" smtClean="0"/>
              <a:t>B8ZS ensures synchronization of a long string of 0s by providing force artificial signal changes called violations, within 0 string pattern.</a:t>
            </a:r>
          </a:p>
          <a:p>
            <a:r>
              <a:rPr lang="en-IN" sz="1200" dirty="0" smtClean="0"/>
              <a:t>When eight 0 occurs, then B8ZS implements some changes in 0s string pattern based on the polarity of the previous 1 bit.</a:t>
            </a:r>
          </a:p>
          <a:p>
            <a:r>
              <a:rPr lang="en-IN" sz="1200" dirty="0" smtClean="0"/>
              <a:t>If the polarity of the previous 1 bit is positive, the eight 0s will be encoded as zero, zero, zero, positive, negative, zero, negative, positive.</a:t>
            </a:r>
            <a:endParaRPr lang="en-IN" sz="1200" dirty="0"/>
          </a:p>
        </p:txBody>
      </p:sp>
      <p:pic>
        <p:nvPicPr>
          <p:cNvPr id="13314" name="Picture 2" descr="Digital Transmission"/>
          <p:cNvPicPr>
            <a:picLocks noChangeAspect="1" noChangeArrowheads="1"/>
          </p:cNvPicPr>
          <p:nvPr/>
        </p:nvPicPr>
        <p:blipFill>
          <a:blip r:embed="rId2"/>
          <a:srcRect/>
          <a:stretch>
            <a:fillRect/>
          </a:stretch>
        </p:blipFill>
        <p:spPr bwMode="auto">
          <a:xfrm>
            <a:off x="2714612" y="2928934"/>
            <a:ext cx="3571900" cy="2500330"/>
          </a:xfrm>
          <a:prstGeom prst="rect">
            <a:avLst/>
          </a:prstGeom>
          <a:noFill/>
        </p:spPr>
      </p:pic>
      <p:sp>
        <p:nvSpPr>
          <p:cNvPr id="9" name="Rectangle 8"/>
          <p:cNvSpPr/>
          <p:nvPr/>
        </p:nvSpPr>
        <p:spPr>
          <a:xfrm>
            <a:off x="642910" y="5857892"/>
            <a:ext cx="8215370" cy="461665"/>
          </a:xfrm>
          <a:prstGeom prst="rect">
            <a:avLst/>
          </a:prstGeom>
        </p:spPr>
        <p:txBody>
          <a:bodyPr wrap="square">
            <a:spAutoFit/>
          </a:bodyPr>
          <a:lstStyle/>
          <a:p>
            <a:r>
              <a:rPr lang="en-IN" sz="1200" dirty="0" smtClean="0"/>
              <a:t>If the polarity of previous 1 bit is negative, then the eight 0s will be encoded as zero, zero, zero, negative, positive, zero, positive, negative.</a:t>
            </a:r>
            <a:endParaRPr lang="en-IN" sz="1200" dirty="0"/>
          </a:p>
        </p:txBody>
      </p:sp>
    </p:spTree>
  </p:cSld>
  <p:clrMapOvr>
    <a:masterClrMapping/>
  </p:clrMapOvr>
  <p:transition advTm="760"/>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357166"/>
            <a:ext cx="8143932" cy="1569660"/>
          </a:xfrm>
          <a:prstGeom prst="rect">
            <a:avLst/>
          </a:prstGeom>
        </p:spPr>
        <p:txBody>
          <a:bodyPr wrap="square">
            <a:spAutoFit/>
          </a:bodyPr>
          <a:lstStyle/>
          <a:p>
            <a:r>
              <a:rPr lang="en-IN" sz="1200" dirty="0" smtClean="0"/>
              <a:t>HDB3</a:t>
            </a:r>
          </a:p>
          <a:p>
            <a:r>
              <a:rPr lang="en-IN" sz="1200" dirty="0" smtClean="0"/>
              <a:t>HDB3 stands for </a:t>
            </a:r>
            <a:r>
              <a:rPr lang="en-IN" sz="1200" b="1" dirty="0" smtClean="0"/>
              <a:t>High-Density Bipolar 3</a:t>
            </a:r>
            <a:r>
              <a:rPr lang="en-IN" sz="1200" dirty="0" smtClean="0"/>
              <a:t>.</a:t>
            </a:r>
          </a:p>
          <a:p>
            <a:r>
              <a:rPr lang="en-IN" sz="1200" dirty="0" smtClean="0"/>
              <a:t>HDB3 technique was first adopted in Europe and Japan.</a:t>
            </a:r>
          </a:p>
          <a:p>
            <a:r>
              <a:rPr lang="en-IN" sz="1200" dirty="0" smtClean="0"/>
              <a:t>HDB3 technique is designed to provide the synchronization of a long sequence of 0s bits.</a:t>
            </a:r>
          </a:p>
          <a:p>
            <a:r>
              <a:rPr lang="en-IN" sz="1200" dirty="0" smtClean="0"/>
              <a:t>In the HDB3 technique, the pattern of violation is based on the polarity of the previous bit.</a:t>
            </a:r>
          </a:p>
          <a:p>
            <a:r>
              <a:rPr lang="en-IN" sz="1200" dirty="0" smtClean="0"/>
              <a:t>When four 0s occur, HDB3 looks at the number of 1s bits occurred since the last substitution.</a:t>
            </a:r>
          </a:p>
          <a:p>
            <a:r>
              <a:rPr lang="en-IN" sz="1200" dirty="0" smtClean="0"/>
              <a:t>If the number of 1s bits is odd, then the violation is made on the fourth consecutive of 0. If the polarity of the previous bit is positive, then the violation is positive. If the polarity of the previous bit is negative, then the violation is negative.</a:t>
            </a:r>
            <a:endParaRPr lang="en-IN" sz="1200" dirty="0"/>
          </a:p>
        </p:txBody>
      </p:sp>
      <p:pic>
        <p:nvPicPr>
          <p:cNvPr id="38914" name="Picture 2" descr="Digital Transmission"/>
          <p:cNvPicPr>
            <a:picLocks noChangeAspect="1" noChangeArrowheads="1"/>
          </p:cNvPicPr>
          <p:nvPr/>
        </p:nvPicPr>
        <p:blipFill>
          <a:blip r:embed="rId2"/>
          <a:srcRect/>
          <a:stretch>
            <a:fillRect/>
          </a:stretch>
        </p:blipFill>
        <p:spPr bwMode="auto">
          <a:xfrm>
            <a:off x="2000232" y="2786058"/>
            <a:ext cx="4876800" cy="2257426"/>
          </a:xfrm>
          <a:prstGeom prst="rect">
            <a:avLst/>
          </a:prstGeom>
          <a:noFill/>
        </p:spPr>
      </p:pic>
      <p:sp>
        <p:nvSpPr>
          <p:cNvPr id="4" name="Rectangle 3"/>
          <p:cNvSpPr/>
          <p:nvPr/>
        </p:nvSpPr>
        <p:spPr>
          <a:xfrm>
            <a:off x="1857356" y="2000240"/>
            <a:ext cx="4572000" cy="646331"/>
          </a:xfrm>
          <a:prstGeom prst="rect">
            <a:avLst/>
          </a:prstGeom>
        </p:spPr>
        <p:txBody>
          <a:bodyPr>
            <a:spAutoFit/>
          </a:bodyPr>
          <a:lstStyle/>
          <a:p>
            <a:r>
              <a:rPr lang="en-IN" b="1" dirty="0" smtClean="0"/>
              <a:t>If the number of 1s bits since the last substitution is odd.</a:t>
            </a:r>
            <a:endParaRPr lang="en-IN" dirty="0"/>
          </a:p>
        </p:txBody>
      </p:sp>
    </p:spTree>
  </p:cSld>
  <p:clrMapOvr>
    <a:masterClrMapping/>
  </p:clrMapOvr>
  <p:transition advTm="3591"/>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571480"/>
            <a:ext cx="8501122" cy="954107"/>
          </a:xfrm>
          <a:prstGeom prst="rect">
            <a:avLst/>
          </a:prstGeom>
        </p:spPr>
        <p:txBody>
          <a:bodyPr wrap="square">
            <a:spAutoFit/>
          </a:bodyPr>
          <a:lstStyle/>
          <a:p>
            <a:r>
              <a:rPr lang="en-IN" sz="1400" dirty="0" smtClean="0"/>
              <a:t>If the number of 1s bits is even, then the violation is made on the place of the first and fourth consecutive 0s. If the polarity of the previous bit is positive, then violations are negative, and if the polarity of the previous bit is negative, then violations are positive.</a:t>
            </a:r>
          </a:p>
          <a:p>
            <a:r>
              <a:rPr lang="en-IN" sz="1400" b="1" dirty="0" smtClean="0"/>
              <a:t>If the number of 1s bits since the last substitution is even.</a:t>
            </a:r>
            <a:endParaRPr lang="en-IN" sz="1400" dirty="0"/>
          </a:p>
        </p:txBody>
      </p:sp>
      <p:pic>
        <p:nvPicPr>
          <p:cNvPr id="39938" name="Picture 2" descr="Digital Transmission"/>
          <p:cNvPicPr>
            <a:picLocks noChangeAspect="1" noChangeArrowheads="1"/>
          </p:cNvPicPr>
          <p:nvPr/>
        </p:nvPicPr>
        <p:blipFill>
          <a:blip r:embed="rId2"/>
          <a:srcRect/>
          <a:stretch>
            <a:fillRect/>
          </a:stretch>
        </p:blipFill>
        <p:spPr bwMode="auto">
          <a:xfrm>
            <a:off x="1357290" y="1714488"/>
            <a:ext cx="4876800" cy="2257426"/>
          </a:xfrm>
          <a:prstGeom prst="rect">
            <a:avLst/>
          </a:prstGeom>
          <a:noFill/>
        </p:spPr>
      </p:pic>
    </p:spTree>
  </p:cSld>
  <p:clrMapOvr>
    <a:masterClrMapping/>
  </p:clrMapOvr>
  <p:transition advTm="40960"/>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928670"/>
            <a:ext cx="8429684" cy="5478423"/>
          </a:xfrm>
          <a:prstGeom prst="rect">
            <a:avLst/>
          </a:prstGeom>
        </p:spPr>
        <p:txBody>
          <a:bodyPr wrap="square">
            <a:spAutoFit/>
          </a:bodyPr>
          <a:lstStyle/>
          <a:p>
            <a:pPr fontAlgn="base"/>
            <a:r>
              <a:rPr lang="en-IN" sz="1400" b="1" dirty="0"/>
              <a:t>Benefits or advantages of NRZ encoding</a:t>
            </a:r>
          </a:p>
          <a:p>
            <a:pPr fontAlgn="base"/>
            <a:r>
              <a:rPr lang="en-IN" sz="1400" dirty="0"/>
              <a:t>Following are the benefits or </a:t>
            </a:r>
            <a:r>
              <a:rPr lang="en-IN" sz="1400" b="1" dirty="0"/>
              <a:t>advantages of NRZ encoding</a:t>
            </a:r>
            <a:r>
              <a:rPr lang="en-IN" sz="1400" dirty="0"/>
              <a:t>:</a:t>
            </a:r>
            <a:br>
              <a:rPr lang="en-IN" sz="1400" dirty="0"/>
            </a:br>
            <a:r>
              <a:rPr lang="en-IN" sz="1400" dirty="0"/>
              <a:t>➨It is simple line coding technique than RZ type as pulse does not return to zero while mapping binary data (1's and 0's).</a:t>
            </a:r>
            <a:br>
              <a:rPr lang="en-IN" sz="1400" dirty="0"/>
            </a:br>
            <a:r>
              <a:rPr lang="en-IN" sz="1400" dirty="0"/>
              <a:t>➨For </a:t>
            </a:r>
            <a:r>
              <a:rPr lang="en-IN" sz="1400" dirty="0" err="1"/>
              <a:t>unipolar</a:t>
            </a:r>
            <a:r>
              <a:rPr lang="en-IN" sz="1400" dirty="0"/>
              <a:t> NRZ </a:t>
            </a:r>
            <a:r>
              <a:rPr lang="en-IN" sz="1400" dirty="0" err="1"/>
              <a:t>signaling</a:t>
            </a:r>
            <a:r>
              <a:rPr lang="en-IN" sz="1400" dirty="0"/>
              <a:t> less bandwidth is needed.</a:t>
            </a:r>
            <a:br>
              <a:rPr lang="en-IN" sz="1400" dirty="0"/>
            </a:br>
            <a:r>
              <a:rPr lang="en-IN" sz="1400" dirty="0"/>
              <a:t>➨In polar NRZ and bipolar NRZ, no low frequency components are present in the </a:t>
            </a:r>
            <a:r>
              <a:rPr lang="en-IN" sz="1400" dirty="0" err="1"/>
              <a:t>signaling</a:t>
            </a:r>
            <a:r>
              <a:rPr lang="en-IN" sz="1400" dirty="0"/>
              <a:t> waveforms after mapping.</a:t>
            </a:r>
            <a:br>
              <a:rPr lang="en-IN" sz="1400" dirty="0"/>
            </a:br>
            <a:endParaRPr lang="en-IN" sz="1400" dirty="0"/>
          </a:p>
          <a:p>
            <a:pPr fontAlgn="base"/>
            <a:r>
              <a:rPr lang="en-IN" sz="1400" b="1" dirty="0"/>
              <a:t>Drawbacks or disadvantages of NRZ line coding</a:t>
            </a:r>
          </a:p>
          <a:p>
            <a:pPr fontAlgn="base"/>
            <a:r>
              <a:rPr lang="en-IN" sz="1400" dirty="0"/>
              <a:t>Following are the drawbacks or </a:t>
            </a:r>
            <a:r>
              <a:rPr lang="en-IN" sz="1400" b="1" dirty="0"/>
              <a:t>disadvantages of NRZ line coding</a:t>
            </a:r>
            <a:r>
              <a:rPr lang="en-IN" sz="1400" dirty="0"/>
              <a:t>:</a:t>
            </a:r>
            <a:br>
              <a:rPr lang="en-IN" sz="1400" dirty="0"/>
            </a:br>
            <a:r>
              <a:rPr lang="en-IN" sz="1400" dirty="0"/>
              <a:t>➨Presence of low frequencies may cause droop in the signal waveforms.</a:t>
            </a:r>
            <a:br>
              <a:rPr lang="en-IN" sz="1400" dirty="0"/>
            </a:br>
            <a:r>
              <a:rPr lang="en-IN" sz="1400" dirty="0"/>
              <a:t>➨No error correction is done.</a:t>
            </a:r>
            <a:br>
              <a:rPr lang="en-IN" sz="1400" dirty="0"/>
            </a:br>
            <a:r>
              <a:rPr lang="en-IN" sz="1400" dirty="0"/>
              <a:t>➨Long string of ones and zeros lead to loss of synchronization between clocks of transmitter and receiver. Hence separate clock line is required between transmitter and receiver to eliminate this problem.</a:t>
            </a:r>
            <a:br>
              <a:rPr lang="en-IN" sz="1400" dirty="0"/>
            </a:br>
            <a:r>
              <a:rPr lang="en-IN" sz="1400" dirty="0"/>
              <a:t>➨No clock is </a:t>
            </a:r>
            <a:r>
              <a:rPr lang="en-IN" sz="1400" dirty="0" smtClean="0"/>
              <a:t>available.</a:t>
            </a:r>
          </a:p>
          <a:p>
            <a:pPr fontAlgn="base"/>
            <a:r>
              <a:rPr lang="en-IN" sz="1400" dirty="0" smtClean="0"/>
              <a:t>##############       Notes </a:t>
            </a:r>
            <a:r>
              <a:rPr lang="en-IN" sz="1400" dirty="0" err="1" smtClean="0"/>
              <a:t>abt</a:t>
            </a:r>
            <a:r>
              <a:rPr lang="en-IN" sz="1400" dirty="0" smtClean="0"/>
              <a:t> DC </a:t>
            </a:r>
          </a:p>
          <a:p>
            <a:pPr fontAlgn="base"/>
            <a:r>
              <a:rPr lang="en-IN" sz="1400" dirty="0" smtClean="0"/>
              <a:t>The </a:t>
            </a:r>
            <a:r>
              <a:rPr lang="en-IN" sz="1400" b="1" dirty="0" smtClean="0"/>
              <a:t>use</a:t>
            </a:r>
            <a:r>
              <a:rPr lang="en-IN" sz="1400" dirty="0" smtClean="0"/>
              <a:t> of a </a:t>
            </a:r>
            <a:r>
              <a:rPr lang="en-IN" sz="1400" b="1" dirty="0" smtClean="0"/>
              <a:t>bipolar</a:t>
            </a:r>
            <a:r>
              <a:rPr lang="en-IN" sz="1400" dirty="0" smtClean="0"/>
              <a:t> code prevents a significant build-up of </a:t>
            </a:r>
            <a:r>
              <a:rPr lang="en-IN" sz="1400" b="1" dirty="0" smtClean="0"/>
              <a:t>DC</a:t>
            </a:r>
            <a:r>
              <a:rPr lang="en-IN" sz="1400" dirty="0" smtClean="0"/>
              <a:t>, as the positive and negative pulses average to zero volts. Little or </a:t>
            </a:r>
            <a:r>
              <a:rPr lang="en-IN" sz="1400" b="1" dirty="0" smtClean="0"/>
              <a:t>no DC</a:t>
            </a:r>
            <a:r>
              <a:rPr lang="en-IN" sz="1400" dirty="0" smtClean="0"/>
              <a:t>-</a:t>
            </a:r>
            <a:r>
              <a:rPr lang="en-IN" sz="1400" b="1" dirty="0" smtClean="0"/>
              <a:t>component is</a:t>
            </a:r>
            <a:r>
              <a:rPr lang="en-IN" sz="1400" dirty="0" smtClean="0"/>
              <a:t> considered an advantage because the cable </a:t>
            </a:r>
            <a:r>
              <a:rPr lang="en-IN" sz="1400" b="1" dirty="0" smtClean="0"/>
              <a:t>may</a:t>
            </a:r>
            <a:r>
              <a:rPr lang="en-IN" sz="1400" dirty="0" smtClean="0"/>
              <a:t> then be used for longer distances and to carry power for intermediate equipment such as line repeaters. </a:t>
            </a:r>
            <a:r>
              <a:rPr lang="en-IN" sz="1400" b="1" dirty="0" smtClean="0"/>
              <a:t>No DC component</a:t>
            </a:r>
            <a:r>
              <a:rPr lang="en-IN" sz="1400" dirty="0" smtClean="0"/>
              <a:t> (or say low-frequency </a:t>
            </a:r>
            <a:r>
              <a:rPr lang="en-IN" sz="1400" b="1" dirty="0" smtClean="0"/>
              <a:t>component</a:t>
            </a:r>
            <a:r>
              <a:rPr lang="en-IN" sz="1400" dirty="0" smtClean="0"/>
              <a:t>) should be there because it </a:t>
            </a:r>
            <a:r>
              <a:rPr lang="en-IN" sz="1400" b="1" dirty="0" smtClean="0"/>
              <a:t>can</a:t>
            </a:r>
            <a:r>
              <a:rPr lang="en-IN" sz="1400" dirty="0" smtClean="0"/>
              <a:t>'t be transferred to larger distances. Signals creates very low frequencies when the voltage level in a digital signal is constant for a while. ... These frequencies around zero are called </a:t>
            </a:r>
            <a:r>
              <a:rPr lang="en-IN" sz="1400" b="1" dirty="0" smtClean="0"/>
              <a:t>DC components</a:t>
            </a:r>
            <a:r>
              <a:rPr lang="en-IN" sz="1400" dirty="0" smtClean="0"/>
              <a:t>, creates </a:t>
            </a:r>
            <a:r>
              <a:rPr lang="en-IN" sz="1400" b="1" dirty="0" smtClean="0"/>
              <a:t>problems</a:t>
            </a:r>
            <a:r>
              <a:rPr lang="en-IN" sz="1400" dirty="0" smtClean="0"/>
              <a:t> for a system that cannot pass low frequencies or system that uses electrical coupling </a:t>
            </a:r>
            <a:r>
              <a:rPr lang="en-IN" sz="1400" dirty="0" err="1" smtClean="0"/>
              <a:t>eg</a:t>
            </a:r>
            <a:r>
              <a:rPr lang="en-IN" sz="1400" dirty="0" smtClean="0"/>
              <a:t> Transformer. </a:t>
            </a:r>
          </a:p>
          <a:p>
            <a:pPr fontAlgn="base"/>
            <a:r>
              <a:rPr lang="en-IN" sz="1400" b="1" dirty="0" smtClean="0"/>
              <a:t>Synchronization--</a:t>
            </a:r>
            <a:r>
              <a:rPr lang="en-IN" sz="1400" dirty="0" smtClean="0"/>
              <a:t>-uniquely detectable code—represents 0’s and 1’s clearly . If there is an error, detection can be </a:t>
            </a:r>
            <a:r>
              <a:rPr lang="en-IN" sz="1400" smtClean="0"/>
              <a:t>done easily.</a:t>
            </a:r>
            <a:endParaRPr lang="en-IN" sz="1400" dirty="0"/>
          </a:p>
        </p:txBody>
      </p:sp>
    </p:spTree>
  </p:cSld>
  <p:clrMapOvr>
    <a:masterClrMapping/>
  </p:clrMapOvr>
  <p:transition advTm="59431"/>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2" y="357166"/>
            <a:ext cx="8215370" cy="1600438"/>
          </a:xfrm>
          <a:prstGeom prst="rect">
            <a:avLst/>
          </a:prstGeom>
        </p:spPr>
        <p:txBody>
          <a:bodyPr wrap="square">
            <a:spAutoFit/>
          </a:bodyPr>
          <a:lstStyle/>
          <a:p>
            <a:r>
              <a:rPr lang="en-IN" sz="1400" dirty="0" smtClean="0"/>
              <a:t>ANALOG-TO-DIGITAL CONVERSION</a:t>
            </a:r>
          </a:p>
          <a:p>
            <a:r>
              <a:rPr lang="en-IN" sz="1400" dirty="0" smtClean="0"/>
              <a:t>When an </a:t>
            </a:r>
            <a:r>
              <a:rPr lang="en-IN" sz="1400" dirty="0" err="1" smtClean="0"/>
              <a:t>analog</a:t>
            </a:r>
            <a:r>
              <a:rPr lang="en-IN" sz="1400" dirty="0" smtClean="0"/>
              <a:t> signal is digitalized, this is called an </a:t>
            </a:r>
            <a:r>
              <a:rPr lang="en-IN" sz="1400" dirty="0" err="1" smtClean="0"/>
              <a:t>analog</a:t>
            </a:r>
            <a:r>
              <a:rPr lang="en-IN" sz="1400" dirty="0" smtClean="0"/>
              <a:t>-to-digital conversion.</a:t>
            </a:r>
          </a:p>
          <a:p>
            <a:r>
              <a:rPr lang="en-IN" sz="1400" dirty="0" smtClean="0"/>
              <a:t>Suppose human sends a voice in the form of an </a:t>
            </a:r>
            <a:r>
              <a:rPr lang="en-IN" sz="1400" dirty="0" err="1" smtClean="0"/>
              <a:t>analog</a:t>
            </a:r>
            <a:r>
              <a:rPr lang="en-IN" sz="1400" dirty="0" smtClean="0"/>
              <a:t> signal, we need to digitalize the </a:t>
            </a:r>
            <a:r>
              <a:rPr lang="en-IN" sz="1400" dirty="0" err="1" smtClean="0"/>
              <a:t>analog</a:t>
            </a:r>
            <a:r>
              <a:rPr lang="en-IN" sz="1400" dirty="0" smtClean="0"/>
              <a:t> signal which is less prone to noise. It requires a reduction in the number of values in an </a:t>
            </a:r>
            <a:r>
              <a:rPr lang="en-IN" sz="1400" dirty="0" err="1" smtClean="0"/>
              <a:t>analog</a:t>
            </a:r>
            <a:r>
              <a:rPr lang="en-IN" sz="1400" dirty="0" smtClean="0"/>
              <a:t> message so that they can be represented in the digital stream.</a:t>
            </a:r>
          </a:p>
          <a:p>
            <a:r>
              <a:rPr lang="en-IN" sz="1400" dirty="0" smtClean="0"/>
              <a:t>In </a:t>
            </a:r>
            <a:r>
              <a:rPr lang="en-IN" sz="1400" dirty="0" err="1" smtClean="0"/>
              <a:t>analog</a:t>
            </a:r>
            <a:r>
              <a:rPr lang="en-IN" sz="1400" dirty="0" smtClean="0"/>
              <a:t>-to-digital conversion, the information contained in a continuous wave form is converted in digital pulses.</a:t>
            </a:r>
            <a:endParaRPr lang="en-IN" sz="1400" dirty="0"/>
          </a:p>
        </p:txBody>
      </p:sp>
      <p:sp>
        <p:nvSpPr>
          <p:cNvPr id="3" name="Rectangle 2"/>
          <p:cNvSpPr/>
          <p:nvPr/>
        </p:nvSpPr>
        <p:spPr>
          <a:xfrm>
            <a:off x="357158" y="2285992"/>
            <a:ext cx="8429684" cy="1815882"/>
          </a:xfrm>
          <a:prstGeom prst="rect">
            <a:avLst/>
          </a:prstGeom>
        </p:spPr>
        <p:txBody>
          <a:bodyPr wrap="square">
            <a:spAutoFit/>
          </a:bodyPr>
          <a:lstStyle/>
          <a:p>
            <a:r>
              <a:rPr lang="en-IN" sz="1400" dirty="0" smtClean="0"/>
              <a:t>Techniques for </a:t>
            </a:r>
            <a:r>
              <a:rPr lang="en-IN" sz="1400" dirty="0" err="1" smtClean="0"/>
              <a:t>Analog</a:t>
            </a:r>
            <a:r>
              <a:rPr lang="en-IN" sz="1400" dirty="0" smtClean="0"/>
              <a:t>-To-Digital Conversion</a:t>
            </a:r>
          </a:p>
          <a:p>
            <a:r>
              <a:rPr lang="en-IN" sz="1400" dirty="0" smtClean="0"/>
              <a:t>PAM</a:t>
            </a:r>
          </a:p>
          <a:p>
            <a:r>
              <a:rPr lang="en-IN" sz="1400" dirty="0" smtClean="0"/>
              <a:t>PAM stands for </a:t>
            </a:r>
            <a:r>
              <a:rPr lang="en-IN" sz="1400" b="1" dirty="0" smtClean="0"/>
              <a:t>pulse amplitude modulation</a:t>
            </a:r>
            <a:r>
              <a:rPr lang="en-IN" sz="1400" dirty="0" smtClean="0"/>
              <a:t>.</a:t>
            </a:r>
          </a:p>
          <a:p>
            <a:r>
              <a:rPr lang="en-IN" sz="1400" dirty="0" smtClean="0"/>
              <a:t>PAM is a technique used in </a:t>
            </a:r>
            <a:r>
              <a:rPr lang="en-IN" sz="1400" dirty="0" err="1" smtClean="0"/>
              <a:t>analog</a:t>
            </a:r>
            <a:r>
              <a:rPr lang="en-IN" sz="1400" dirty="0" smtClean="0"/>
              <a:t>-to-digital conversion.</a:t>
            </a:r>
          </a:p>
          <a:p>
            <a:r>
              <a:rPr lang="en-IN" sz="1400" dirty="0" smtClean="0"/>
              <a:t>PAM technique takes an </a:t>
            </a:r>
            <a:r>
              <a:rPr lang="en-IN" sz="1400" dirty="0" err="1" smtClean="0"/>
              <a:t>analog</a:t>
            </a:r>
            <a:r>
              <a:rPr lang="en-IN" sz="1400" dirty="0" smtClean="0"/>
              <a:t> signal, samples it, and generates a series of digital pulses based on the result of sampling where sampling means measuring the amplitude of a signal at equal intervals.</a:t>
            </a:r>
          </a:p>
          <a:p>
            <a:r>
              <a:rPr lang="en-IN" sz="1400" dirty="0" smtClean="0"/>
              <a:t>PAM technique is not useful in data communication as it translates the original wave form into pulses, but these pulses are not digital. To make them digital, PAM technique is modified to PCM technique.</a:t>
            </a:r>
          </a:p>
        </p:txBody>
      </p:sp>
    </p:spTree>
  </p:cSld>
  <p:clrMapOvr>
    <a:masterClrMapping/>
  </p:clrMapOvr>
  <p:transition advTm="9580"/>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8" name="Picture 4" descr="Digital Transmission"/>
          <p:cNvPicPr>
            <a:picLocks noChangeAspect="1" noChangeArrowheads="1"/>
          </p:cNvPicPr>
          <p:nvPr/>
        </p:nvPicPr>
        <p:blipFill>
          <a:blip r:embed="rId3"/>
          <a:srcRect/>
          <a:stretch>
            <a:fillRect/>
          </a:stretch>
        </p:blipFill>
        <p:spPr bwMode="auto">
          <a:xfrm>
            <a:off x="928662" y="3786190"/>
            <a:ext cx="7143750" cy="1724025"/>
          </a:xfrm>
          <a:prstGeom prst="rect">
            <a:avLst/>
          </a:prstGeom>
          <a:noFill/>
        </p:spPr>
      </p:pic>
      <p:pic>
        <p:nvPicPr>
          <p:cNvPr id="5" name="Picture 2" descr="Digital Transmission"/>
          <p:cNvPicPr>
            <a:picLocks noChangeAspect="1" noChangeArrowheads="1"/>
          </p:cNvPicPr>
          <p:nvPr/>
        </p:nvPicPr>
        <p:blipFill>
          <a:blip r:embed="rId4"/>
          <a:srcRect/>
          <a:stretch>
            <a:fillRect/>
          </a:stretch>
        </p:blipFill>
        <p:spPr bwMode="auto">
          <a:xfrm>
            <a:off x="1142976" y="428604"/>
            <a:ext cx="4286250" cy="2800351"/>
          </a:xfrm>
          <a:prstGeom prst="rect">
            <a:avLst/>
          </a:prstGeom>
          <a:noFill/>
        </p:spPr>
      </p:pic>
      <p:pic>
        <p:nvPicPr>
          <p:cNvPr id="6" name="~PP3428.WAV">
            <a:hlinkClick r:id="" action="ppaction://media"/>
          </p:cNvPr>
          <p:cNvPicPr>
            <a:picLocks noRot="1" noChangeAspect="1"/>
          </p:cNvPicPr>
          <p:nvPr>
            <a:wavAudioFile r:embed="rId1" name="~PP3428.WAV"/>
          </p:nvPr>
        </p:nvPicPr>
        <p:blipFill>
          <a:blip r:embed="rId5"/>
          <a:stretch>
            <a:fillRect/>
          </a:stretch>
        </p:blipFill>
        <p:spPr>
          <a:xfrm>
            <a:off x="8632825" y="6346825"/>
            <a:ext cx="304800" cy="304800"/>
          </a:xfrm>
          <a:prstGeom prst="rect">
            <a:avLst/>
          </a:prstGeom>
        </p:spPr>
      </p:pic>
    </p:spTree>
  </p:cSld>
  <p:clrMapOvr>
    <a:masterClrMapping/>
  </p:clrMapOvr>
  <p:transition advTm="686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285728"/>
            <a:ext cx="8501122" cy="1169551"/>
          </a:xfrm>
          <a:prstGeom prst="rect">
            <a:avLst/>
          </a:prstGeom>
        </p:spPr>
        <p:txBody>
          <a:bodyPr wrap="square">
            <a:spAutoFit/>
          </a:bodyPr>
          <a:lstStyle/>
          <a:p>
            <a:r>
              <a:rPr lang="en-IN" sz="1400" dirty="0" smtClean="0"/>
              <a:t>PCM</a:t>
            </a:r>
          </a:p>
          <a:p>
            <a:r>
              <a:rPr lang="en-IN" sz="1400" dirty="0" smtClean="0"/>
              <a:t>PCM stands for </a:t>
            </a:r>
            <a:r>
              <a:rPr lang="en-IN" sz="1400" b="1" dirty="0" smtClean="0"/>
              <a:t>Pulse Code Modulation</a:t>
            </a:r>
            <a:r>
              <a:rPr lang="en-IN" sz="1400" dirty="0" smtClean="0"/>
              <a:t>.</a:t>
            </a:r>
          </a:p>
          <a:p>
            <a:r>
              <a:rPr lang="en-IN" sz="1400" dirty="0" smtClean="0"/>
              <a:t>PCM technique is used to modify the pulses created by PAM to form a digital signal. To achieve this, PCM quantizes PAM pulses. Quantization is a process of assigning integral values in a specific range to sampled instances.</a:t>
            </a:r>
          </a:p>
          <a:p>
            <a:r>
              <a:rPr lang="en-IN" sz="1400" dirty="0" smtClean="0"/>
              <a:t>PCM is made of four separate processes: PAM, quantization, binary encoding, and digital-to-digital encoding.</a:t>
            </a:r>
            <a:endParaRPr lang="en-IN" sz="1400" dirty="0"/>
          </a:p>
        </p:txBody>
      </p:sp>
      <p:pic>
        <p:nvPicPr>
          <p:cNvPr id="43010" name="Picture 2" descr="Digital Transmission"/>
          <p:cNvPicPr>
            <a:picLocks noChangeAspect="1" noChangeArrowheads="1"/>
          </p:cNvPicPr>
          <p:nvPr/>
        </p:nvPicPr>
        <p:blipFill>
          <a:blip r:embed="rId3"/>
          <a:srcRect/>
          <a:stretch>
            <a:fillRect/>
          </a:stretch>
        </p:blipFill>
        <p:spPr bwMode="auto">
          <a:xfrm>
            <a:off x="1643042" y="1714488"/>
            <a:ext cx="6000792" cy="4071966"/>
          </a:xfrm>
          <a:prstGeom prst="rect">
            <a:avLst/>
          </a:prstGeom>
          <a:noFill/>
        </p:spPr>
      </p:pic>
      <p:pic>
        <p:nvPicPr>
          <p:cNvPr id="5" name="~PP1696.WAV">
            <a:hlinkClick r:id="" action="ppaction://media"/>
          </p:cNvPr>
          <p:cNvPicPr>
            <a:picLocks noRot="1" noChangeAspect="1"/>
          </p:cNvPicPr>
          <p:nvPr>
            <a:wavAudioFile r:embed="rId1" name="~PP1696.WAV"/>
          </p:nvPr>
        </p:nvPicPr>
        <p:blipFill>
          <a:blip r:embed="rId4"/>
          <a:stretch>
            <a:fillRect/>
          </a:stretch>
        </p:blipFill>
        <p:spPr>
          <a:xfrm>
            <a:off x="8632825" y="6346825"/>
            <a:ext cx="304800" cy="304800"/>
          </a:xfrm>
          <a:prstGeom prst="rect">
            <a:avLst/>
          </a:prstGeom>
        </p:spPr>
      </p:pic>
    </p:spTree>
  </p:cSld>
  <p:clrMapOvr>
    <a:masterClrMapping/>
  </p:clrMapOvr>
  <p:transition advTm="5137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0"/>
            <a:ext cx="8395247" cy="138499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chemeClr val="tx1"/>
                </a:solidFill>
                <a:effectLst/>
                <a:latin typeface="Arial" pitchFamily="34" charset="0"/>
                <a:cs typeface="Arial" pitchFamily="34" charset="0"/>
              </a:rPr>
              <a:t>Transmission Modes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000000"/>
                </a:solidFill>
                <a:effectLst/>
                <a:latin typeface="Arial" pitchFamily="34" charset="0"/>
                <a:cs typeface="Arial" pitchFamily="34" charset="0"/>
              </a:rPr>
              <a:t>The transmission mode decides how data is transmitted between two </a:t>
            </a:r>
            <a:r>
              <a:rPr kumimoji="0" lang="en-US" sz="1200" b="0" i="0" u="none" strike="noStrike" cap="none" normalizeH="0" baseline="0" dirty="0" err="1" smtClean="0">
                <a:ln>
                  <a:noFill/>
                </a:ln>
                <a:solidFill>
                  <a:srgbClr val="000000"/>
                </a:solidFill>
                <a:effectLst/>
                <a:latin typeface="Arial" pitchFamily="34" charset="0"/>
                <a:cs typeface="Arial" pitchFamily="34" charset="0"/>
              </a:rPr>
              <a:t>computers.The</a:t>
            </a:r>
            <a:r>
              <a:rPr kumimoji="0" lang="en-US" sz="1200" b="0" i="0" u="none" strike="noStrike" cap="none" normalizeH="0" baseline="0" dirty="0" smtClean="0">
                <a:ln>
                  <a:noFill/>
                </a:ln>
                <a:solidFill>
                  <a:srgbClr val="000000"/>
                </a:solidFill>
                <a:effectLst/>
                <a:latin typeface="Arial" pitchFamily="34" charset="0"/>
                <a:cs typeface="Arial" pitchFamily="34" charset="0"/>
              </a:rPr>
              <a:t> binary data in the form of 1s and 0s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000000"/>
                </a:solidFill>
                <a:effectLst/>
                <a:latin typeface="Arial" pitchFamily="34" charset="0"/>
                <a:cs typeface="Arial" pitchFamily="34" charset="0"/>
              </a:rPr>
              <a:t> can be sent in two different modes: Parallel and Serial.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3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chemeClr val="tx1"/>
                </a:solidFill>
                <a:effectLst/>
                <a:latin typeface="Arial" pitchFamily="34" charset="0"/>
                <a:cs typeface="Arial" pitchFamily="34" charset="0"/>
              </a:rPr>
              <a:t>Parallel Transmission</a:t>
            </a:r>
          </a:p>
        </p:txBody>
      </p:sp>
      <p:pic>
        <p:nvPicPr>
          <p:cNvPr id="1026" name="Picture 2" descr="Parallel Transmission"/>
          <p:cNvPicPr>
            <a:picLocks noChangeAspect="1" noChangeArrowheads="1"/>
          </p:cNvPicPr>
          <p:nvPr/>
        </p:nvPicPr>
        <p:blipFill>
          <a:blip r:embed="rId3"/>
          <a:srcRect/>
          <a:stretch>
            <a:fillRect/>
          </a:stretch>
        </p:blipFill>
        <p:spPr bwMode="auto">
          <a:xfrm>
            <a:off x="1857356" y="1071546"/>
            <a:ext cx="5162550" cy="2895600"/>
          </a:xfrm>
          <a:prstGeom prst="rect">
            <a:avLst/>
          </a:prstGeom>
          <a:noFill/>
        </p:spPr>
      </p:pic>
      <p:sp>
        <p:nvSpPr>
          <p:cNvPr id="4" name="Rectangle 3"/>
          <p:cNvSpPr/>
          <p:nvPr/>
        </p:nvSpPr>
        <p:spPr>
          <a:xfrm>
            <a:off x="571440" y="4643446"/>
            <a:ext cx="8572560" cy="1600438"/>
          </a:xfrm>
          <a:prstGeom prst="rect">
            <a:avLst/>
          </a:prstGeom>
        </p:spPr>
        <p:txBody>
          <a:bodyPr wrap="square">
            <a:spAutoFit/>
          </a:bodyPr>
          <a:lstStyle/>
          <a:p>
            <a:r>
              <a:rPr lang="en-IN" sz="1400" dirty="0" smtClean="0"/>
              <a:t>The binary bits are organized in-to groups of fixed length. Both sender and receiver are connected in parallel with the equal number of data lines. Both computers distinguish between high order and low order data lines. The sender sends all the bits at once on all lines. Because the data lines are equal to the number of bits in a group or data frame, a complete group of bits (data frame) is sent in one go. Advantage of Parallel transmission is high speed and disadvantage is the cost of wires, as it is equal to the number of bits sent in parallel. But there is a significant disadvantage: cost. Parallel transmission requires </a:t>
            </a:r>
            <a:r>
              <a:rPr lang="en-IN" sz="1400" i="1" dirty="0" smtClean="0"/>
              <a:t>n </a:t>
            </a:r>
            <a:r>
              <a:rPr lang="en-IN" sz="1400" dirty="0" smtClean="0"/>
              <a:t>communication lines (wires in the example) just to transmit the data stream. Because this is expensive, parallel transmission is usually limited to short distances</a:t>
            </a:r>
            <a:r>
              <a:rPr lang="en-IN" sz="1400" smtClean="0"/>
              <a:t>. </a:t>
            </a:r>
            <a:endParaRPr lang="en-IN" sz="1400" dirty="0"/>
          </a:p>
        </p:txBody>
      </p:sp>
      <p:pic>
        <p:nvPicPr>
          <p:cNvPr id="5" name="~PP630.WAV">
            <a:hlinkClick r:id="" action="ppaction://media"/>
          </p:cNvPr>
          <p:cNvPicPr>
            <a:picLocks noRot="1" noChangeAspect="1"/>
          </p:cNvPicPr>
          <p:nvPr>
            <a:wavAudioFile r:embed="rId1" name="~PP630.WAV"/>
          </p:nvPr>
        </p:nvPicPr>
        <p:blipFill>
          <a:blip r:embed="rId4"/>
          <a:stretch>
            <a:fillRect/>
          </a:stretch>
        </p:blipFill>
        <p:spPr>
          <a:xfrm>
            <a:off x="8632825" y="6346825"/>
            <a:ext cx="304800" cy="304800"/>
          </a:xfrm>
          <a:prstGeom prst="rect">
            <a:avLst/>
          </a:prstGeom>
        </p:spPr>
      </p:pic>
    </p:spTree>
  </p:cSld>
  <p:clrMapOvr>
    <a:masterClrMapping/>
  </p:clrMapOvr>
  <p:transition advTm="1206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p:cNvSpPr>
            <a:spLocks noChangeArrowheads="1"/>
          </p:cNvSpPr>
          <p:nvPr/>
        </p:nvSpPr>
        <p:spPr bwMode="auto">
          <a:xfrm>
            <a:off x="0" y="0"/>
            <a:ext cx="7094763" cy="861774"/>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3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dirty="0" smtClean="0">
                <a:ln>
                  <a:noFill/>
                </a:ln>
                <a:solidFill>
                  <a:schemeClr val="tx1"/>
                </a:solidFill>
                <a:effectLst/>
                <a:latin typeface="Arial" pitchFamily="34" charset="0"/>
                <a:cs typeface="Arial" pitchFamily="34" charset="0"/>
              </a:rPr>
              <a:t>Serial Transmission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000000"/>
                </a:solidFill>
                <a:effectLst/>
                <a:latin typeface="Arial" pitchFamily="34" charset="0"/>
                <a:cs typeface="Arial" pitchFamily="34" charset="0"/>
              </a:rPr>
              <a:t>In serial transmission, bits are sent one after another in a queue manner. Serial transmission requires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000000"/>
                </a:solidFill>
                <a:effectLst/>
                <a:latin typeface="Arial" pitchFamily="34" charset="0"/>
                <a:cs typeface="Arial" pitchFamily="34" charset="0"/>
              </a:rPr>
              <a:t>only one communication channel.</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25602" name="Picture 2" descr="Serial Transmission"/>
          <p:cNvPicPr>
            <a:picLocks noChangeAspect="1" noChangeArrowheads="1"/>
          </p:cNvPicPr>
          <p:nvPr/>
        </p:nvPicPr>
        <p:blipFill>
          <a:blip r:embed="rId2"/>
          <a:srcRect/>
          <a:stretch>
            <a:fillRect/>
          </a:stretch>
        </p:blipFill>
        <p:spPr bwMode="auto">
          <a:xfrm>
            <a:off x="785786" y="1000108"/>
            <a:ext cx="5162550" cy="1552575"/>
          </a:xfrm>
          <a:prstGeom prst="rect">
            <a:avLst/>
          </a:prstGeom>
          <a:noFill/>
        </p:spPr>
      </p:pic>
      <p:sp>
        <p:nvSpPr>
          <p:cNvPr id="4" name="Rectangle 3"/>
          <p:cNvSpPr/>
          <p:nvPr/>
        </p:nvSpPr>
        <p:spPr>
          <a:xfrm>
            <a:off x="1357290" y="2500306"/>
            <a:ext cx="5500710" cy="307777"/>
          </a:xfrm>
          <a:prstGeom prst="rect">
            <a:avLst/>
          </a:prstGeom>
        </p:spPr>
        <p:txBody>
          <a:bodyPr wrap="square">
            <a:spAutoFit/>
          </a:bodyPr>
          <a:lstStyle/>
          <a:p>
            <a:r>
              <a:rPr lang="en-IN" sz="1400" dirty="0" smtClean="0"/>
              <a:t>Serial transmission can be either asynchronous or synchronous.</a:t>
            </a:r>
            <a:endParaRPr lang="en-IN" sz="1400" dirty="0"/>
          </a:p>
        </p:txBody>
      </p:sp>
      <p:sp>
        <p:nvSpPr>
          <p:cNvPr id="5" name="Rectangle 4"/>
          <p:cNvSpPr/>
          <p:nvPr/>
        </p:nvSpPr>
        <p:spPr>
          <a:xfrm>
            <a:off x="357158" y="2857496"/>
            <a:ext cx="8215370" cy="830997"/>
          </a:xfrm>
          <a:prstGeom prst="rect">
            <a:avLst/>
          </a:prstGeom>
        </p:spPr>
        <p:txBody>
          <a:bodyPr wrap="square">
            <a:spAutoFit/>
          </a:bodyPr>
          <a:lstStyle/>
          <a:p>
            <a:r>
              <a:rPr lang="en-IN" sz="1200" dirty="0" smtClean="0"/>
              <a:t>Asynchronous Serial Transmission</a:t>
            </a:r>
          </a:p>
          <a:p>
            <a:r>
              <a:rPr lang="en-IN" sz="1200" dirty="0" smtClean="0"/>
              <a:t>It is named so because there is no importance of timing. Data-bits have specific pattern and they help receiver recognize the start and end data bits. For example, a 0 is prefixed on every data byte and one or more 1s are added at the end.</a:t>
            </a:r>
          </a:p>
          <a:p>
            <a:r>
              <a:rPr lang="en-IN" sz="1200" dirty="0" smtClean="0"/>
              <a:t>Two continuous data-frames (bytes) may have a gap between them.</a:t>
            </a:r>
            <a:endParaRPr lang="en-IN" sz="1200" dirty="0"/>
          </a:p>
        </p:txBody>
      </p:sp>
      <p:pic>
        <p:nvPicPr>
          <p:cNvPr id="7" name="Picture 4" descr="https://media.geeksforgeeks.org/wp-content/uploads/20190523143244/Untitled-Diagram-421.png"/>
          <p:cNvPicPr>
            <a:picLocks noChangeAspect="1" noChangeArrowheads="1"/>
          </p:cNvPicPr>
          <p:nvPr/>
        </p:nvPicPr>
        <p:blipFill>
          <a:blip r:embed="rId3"/>
          <a:srcRect/>
          <a:stretch>
            <a:fillRect/>
          </a:stretch>
        </p:blipFill>
        <p:spPr bwMode="auto">
          <a:xfrm>
            <a:off x="1714480" y="3857628"/>
            <a:ext cx="4876800" cy="2343151"/>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2" y="58847"/>
            <a:ext cx="8215370" cy="3539430"/>
          </a:xfrm>
          <a:prstGeom prst="rect">
            <a:avLst/>
          </a:prstGeom>
        </p:spPr>
        <p:txBody>
          <a:bodyPr wrap="square">
            <a:spAutoFit/>
          </a:bodyPr>
          <a:lstStyle/>
          <a:p>
            <a:r>
              <a:rPr lang="en-IN" sz="1400" dirty="0" smtClean="0"/>
              <a:t>Asynchronous Transmission</a:t>
            </a:r>
          </a:p>
          <a:p>
            <a:r>
              <a:rPr lang="en-IN" sz="1400" dirty="0" smtClean="0"/>
              <a:t>In asynchronous transmission, data moves in a half-paired approach, 1 byte or 1 character at a time.  It sends the data in a constant current of bytes.  The size of a character transmitted is 8 bits, with a parity bit added both at the beginning and at the end, making it a total of 10 bits.  It doesn’t need a clock for integration—rather, it utilises the parity bits to tell the receiver how to translate the data.</a:t>
            </a:r>
          </a:p>
          <a:p>
            <a:r>
              <a:rPr lang="en-IN" sz="1400" dirty="0" smtClean="0"/>
              <a:t>It is straightforward, quick, cost-effective, and doesn’t need 2-way communication to function.</a:t>
            </a:r>
          </a:p>
          <a:p>
            <a:r>
              <a:rPr lang="en-IN" sz="1400" dirty="0" smtClean="0"/>
              <a:t>Characteristics of Asynchronous Transmission</a:t>
            </a:r>
          </a:p>
          <a:p>
            <a:r>
              <a:rPr lang="en-IN" sz="1400" dirty="0" smtClean="0"/>
              <a:t>Each character is headed by a beginning bit and concluded with one or more end bits.</a:t>
            </a:r>
          </a:p>
          <a:p>
            <a:r>
              <a:rPr lang="en-IN" sz="1400" dirty="0" smtClean="0"/>
              <a:t>There may be gaps or spaces in between characters.</a:t>
            </a:r>
          </a:p>
          <a:p>
            <a:r>
              <a:rPr lang="en-IN" sz="1400" dirty="0" smtClean="0"/>
              <a:t>Examples of Asynchronous Transmission</a:t>
            </a:r>
          </a:p>
          <a:p>
            <a:r>
              <a:rPr lang="en-IN" sz="1400" dirty="0" smtClean="0"/>
              <a:t>Emails</a:t>
            </a:r>
          </a:p>
          <a:p>
            <a:r>
              <a:rPr lang="en-IN" sz="1400" dirty="0" smtClean="0"/>
              <a:t>Forums</a:t>
            </a:r>
          </a:p>
          <a:p>
            <a:r>
              <a:rPr lang="en-IN" sz="1400" dirty="0" smtClean="0"/>
              <a:t>Letters</a:t>
            </a:r>
          </a:p>
          <a:p>
            <a:r>
              <a:rPr lang="en-IN" sz="1400" dirty="0" smtClean="0"/>
              <a:t>Radios</a:t>
            </a:r>
          </a:p>
          <a:p>
            <a:r>
              <a:rPr lang="en-IN" sz="1400" dirty="0" smtClean="0"/>
              <a:t>Televisions</a:t>
            </a:r>
          </a:p>
          <a:p>
            <a:r>
              <a:rPr lang="en-IN" sz="1400" dirty="0" smtClean="0"/>
              <a:t>Use half duplex mode</a:t>
            </a:r>
            <a:endParaRPr lang="en-IN"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5786" y="714357"/>
            <a:ext cx="7715304" cy="5262979"/>
          </a:xfrm>
          <a:prstGeom prst="rect">
            <a:avLst/>
          </a:prstGeom>
        </p:spPr>
        <p:txBody>
          <a:bodyPr wrap="square">
            <a:spAutoFit/>
          </a:bodyPr>
          <a:lstStyle/>
          <a:p>
            <a:r>
              <a:rPr lang="en-IN" sz="1200" dirty="0" smtClean="0"/>
              <a:t>Synchronous Serial Transmission</a:t>
            </a:r>
          </a:p>
          <a:p>
            <a:r>
              <a:rPr lang="en-IN" sz="1200" dirty="0" smtClean="0"/>
              <a:t>In synchronous transmission, data moves in a completely paired approach, in the form of chunks or frames.  Synchronisation between the source and target is required so that the source knows where the new byte begins, since there are no spaces included between the data.</a:t>
            </a:r>
          </a:p>
          <a:p>
            <a:r>
              <a:rPr lang="en-IN" sz="1200" dirty="0" smtClean="0"/>
              <a:t>Synchronous transmission is effective, dependable, and often utilised for transmitting a large amount of data.  It offers real-time communication between linked devices.</a:t>
            </a:r>
          </a:p>
          <a:p>
            <a:r>
              <a:rPr lang="en-IN" sz="1200" dirty="0" smtClean="0"/>
              <a:t>Timing in synchronous transmission has importance as there is no mechanism followed to recognize start and end data bits</a:t>
            </a:r>
            <a:r>
              <a:rPr lang="en-IN" sz="1200" dirty="0" smtClean="0"/>
              <a:t>. There </a:t>
            </a:r>
            <a:r>
              <a:rPr lang="en-IN" sz="1200" dirty="0" smtClean="0"/>
              <a:t>is no pattern or prefix/suffix method. Data bits are sent in burst mode without maintaining gap between bytes (8-bits). Single burst of data bits may contain a number of bytes. Therefore, timing becomes very important.</a:t>
            </a:r>
          </a:p>
          <a:p>
            <a:r>
              <a:rPr lang="en-IN" sz="1200" dirty="0" smtClean="0"/>
              <a:t>It is up to the receiver to recognize and separate bits into </a:t>
            </a:r>
            <a:r>
              <a:rPr lang="en-IN" sz="1200" dirty="0" err="1" smtClean="0"/>
              <a:t>bytes.The</a:t>
            </a:r>
            <a:r>
              <a:rPr lang="en-IN" sz="1200" dirty="0" smtClean="0"/>
              <a:t> advantage of synchronous transmission is high speed, and it has no overhead of extra header(start bit 0) and footer bits(</a:t>
            </a:r>
            <a:r>
              <a:rPr lang="en-IN" sz="1200" dirty="0" err="1" smtClean="0"/>
              <a:t>stopbit</a:t>
            </a:r>
            <a:r>
              <a:rPr lang="en-IN" sz="1200" dirty="0" smtClean="0"/>
              <a:t> 1) as in asynchronous transmission.</a:t>
            </a:r>
          </a:p>
          <a:p>
            <a:endParaRPr lang="en-IN" sz="1200" dirty="0" smtClean="0"/>
          </a:p>
          <a:p>
            <a:r>
              <a:rPr lang="en-IN" sz="1200" dirty="0" smtClean="0"/>
              <a:t>Because there are no beginning and end bits, the data transfer rate is quicker but there’s an increased possibility of errors occurring.  Over time, the clocks will get out of sync, and the target device would have the incorrect time, so some bytes could become damaged on account of lost bits.  To resolve this issue, it’s necessary to regularly re-synchronise the clocks, as well as to make use of check digits to ensure that the bytes are correctly received and translated.</a:t>
            </a:r>
          </a:p>
          <a:p>
            <a:r>
              <a:rPr lang="en-IN" sz="1200" dirty="0" smtClean="0"/>
              <a:t>Characteristics of Synchronous Transmission</a:t>
            </a:r>
          </a:p>
          <a:p>
            <a:r>
              <a:rPr lang="en-IN" sz="1200" dirty="0" smtClean="0"/>
              <a:t>There are no spaces in between </a:t>
            </a:r>
            <a:r>
              <a:rPr lang="en-IN" sz="1200" dirty="0" smtClean="0">
                <a:hlinkClick r:id="rId2"/>
              </a:rPr>
              <a:t>characters</a:t>
            </a:r>
            <a:r>
              <a:rPr lang="en-IN" sz="1200" dirty="0" smtClean="0"/>
              <a:t> being sent.</a:t>
            </a:r>
          </a:p>
          <a:p>
            <a:r>
              <a:rPr lang="en-IN" sz="1200" dirty="0" smtClean="0"/>
              <a:t>Timing is provided by modems or other devices at the end of the transmission.</a:t>
            </a:r>
          </a:p>
          <a:p>
            <a:r>
              <a:rPr lang="en-IN" sz="1200" dirty="0" smtClean="0"/>
              <a:t>Special ’</a:t>
            </a:r>
            <a:r>
              <a:rPr lang="en-IN" sz="1200" dirty="0" err="1" smtClean="0"/>
              <a:t>syn</a:t>
            </a:r>
            <a:r>
              <a:rPr lang="en-IN" sz="1200" dirty="0" smtClean="0"/>
              <a:t>’ characters goes before the data being sent.</a:t>
            </a:r>
          </a:p>
          <a:p>
            <a:r>
              <a:rPr lang="en-IN" sz="1200" dirty="0" smtClean="0"/>
              <a:t>The </a:t>
            </a:r>
            <a:r>
              <a:rPr lang="en-IN" sz="1200" dirty="0" err="1" smtClean="0"/>
              <a:t>syn</a:t>
            </a:r>
            <a:r>
              <a:rPr lang="en-IN" sz="1200" dirty="0" smtClean="0"/>
              <a:t> characters are included between chunks of data for timing functions.</a:t>
            </a:r>
          </a:p>
          <a:p>
            <a:r>
              <a:rPr lang="en-IN" sz="1200" dirty="0" smtClean="0"/>
              <a:t>Examples of Synchronous Transmission</a:t>
            </a:r>
          </a:p>
          <a:p>
            <a:r>
              <a:rPr lang="en-IN" sz="1200" dirty="0" err="1" smtClean="0"/>
              <a:t>Chatrooms</a:t>
            </a:r>
            <a:endParaRPr lang="en-IN" sz="1200" dirty="0" smtClean="0"/>
          </a:p>
          <a:p>
            <a:r>
              <a:rPr lang="en-IN" sz="1200" dirty="0" smtClean="0"/>
              <a:t>Video conferencing</a:t>
            </a:r>
          </a:p>
          <a:p>
            <a:r>
              <a:rPr lang="en-IN" sz="1200" dirty="0" smtClean="0"/>
              <a:t>Telephonic conversations</a:t>
            </a:r>
          </a:p>
          <a:p>
            <a:r>
              <a:rPr lang="en-IN" sz="1200" dirty="0" smtClean="0"/>
              <a:t>Face-to-face interactions</a:t>
            </a:r>
          </a:p>
          <a:p>
            <a:r>
              <a:rPr lang="en-IN" sz="1200" dirty="0" smtClean="0"/>
              <a:t>Use Full duplex mode</a:t>
            </a:r>
            <a:endParaRPr lang="en-IN"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https://media.geeksforgeeks.org/wp-content/uploads/20190523143224/Untitled-Diagram-411.png"/>
          <p:cNvPicPr>
            <a:picLocks noChangeAspect="1" noChangeArrowheads="1"/>
          </p:cNvPicPr>
          <p:nvPr/>
        </p:nvPicPr>
        <p:blipFill>
          <a:blip r:embed="rId2"/>
          <a:srcRect/>
          <a:stretch>
            <a:fillRect/>
          </a:stretch>
        </p:blipFill>
        <p:spPr bwMode="auto">
          <a:xfrm>
            <a:off x="785786" y="2071678"/>
            <a:ext cx="5734050" cy="14859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857224" y="428604"/>
          <a:ext cx="6858047" cy="5024766"/>
        </p:xfrm>
        <a:graphic>
          <a:graphicData uri="http://schemas.openxmlformats.org/drawingml/2006/table">
            <a:tbl>
              <a:tblPr/>
              <a:tblGrid>
                <a:gridCol w="2333641"/>
                <a:gridCol w="2262203"/>
                <a:gridCol w="2262203"/>
              </a:tblGrid>
              <a:tr h="302370">
                <a:tc>
                  <a:txBody>
                    <a:bodyPr/>
                    <a:lstStyle/>
                    <a:p>
                      <a:pPr algn="l" fontAlgn="base"/>
                      <a:r>
                        <a:rPr lang="en-IN" sz="1200" b="0" dirty="0"/>
                        <a:t>S.NO</a:t>
                      </a:r>
                    </a:p>
                  </a:txBody>
                  <a:tcPr marL="43196" marR="43196" marT="21598" marB="21598" anchor="ctr">
                    <a:lnL>
                      <a:noFill/>
                    </a:lnL>
                    <a:lnR>
                      <a:noFill/>
                    </a:lnR>
                    <a:lnT>
                      <a:noFill/>
                    </a:lnT>
                    <a:lnB>
                      <a:noFill/>
                    </a:lnB>
                    <a:solidFill>
                      <a:srgbClr val="FFFFFF"/>
                    </a:solidFill>
                  </a:tcPr>
                </a:tc>
                <a:tc>
                  <a:txBody>
                    <a:bodyPr/>
                    <a:lstStyle/>
                    <a:p>
                      <a:pPr algn="l" fontAlgn="base"/>
                      <a:r>
                        <a:rPr lang="en-IN" sz="1200" b="0"/>
                        <a:t>Synchronous Transmission</a:t>
                      </a:r>
                    </a:p>
                  </a:txBody>
                  <a:tcPr marL="43196" marR="43196" marT="21598" marB="21598" anchor="ctr">
                    <a:lnL>
                      <a:noFill/>
                    </a:lnL>
                    <a:lnR>
                      <a:noFill/>
                    </a:lnR>
                    <a:lnT>
                      <a:noFill/>
                    </a:lnT>
                    <a:lnB>
                      <a:noFill/>
                    </a:lnB>
                    <a:solidFill>
                      <a:srgbClr val="FFFFFF"/>
                    </a:solidFill>
                  </a:tcPr>
                </a:tc>
                <a:tc>
                  <a:txBody>
                    <a:bodyPr/>
                    <a:lstStyle/>
                    <a:p>
                      <a:pPr algn="l" fontAlgn="base"/>
                      <a:r>
                        <a:rPr lang="en-IN" sz="1200" b="0"/>
                        <a:t>Asynchronous Transmission</a:t>
                      </a:r>
                    </a:p>
                  </a:txBody>
                  <a:tcPr marL="43196" marR="43196" marT="21598" marB="21598" anchor="ctr">
                    <a:lnL>
                      <a:noFill/>
                    </a:lnL>
                    <a:lnR>
                      <a:noFill/>
                    </a:lnR>
                    <a:lnT>
                      <a:noFill/>
                    </a:lnT>
                    <a:lnB>
                      <a:noFill/>
                    </a:lnB>
                    <a:solidFill>
                      <a:srgbClr val="FFFFFF"/>
                    </a:solidFill>
                  </a:tcPr>
                </a:tc>
              </a:tr>
              <a:tr h="485952">
                <a:tc>
                  <a:txBody>
                    <a:bodyPr/>
                    <a:lstStyle/>
                    <a:p>
                      <a:pPr algn="l" fontAlgn="base"/>
                      <a:r>
                        <a:rPr lang="en-IN" sz="1200" b="0"/>
                        <a:t>1.</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a:t>In Synchronous transmission, Data is sent in form of blocks or frames.</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a:t>In asynchronous transmission, Data is sent in form of byte or character.</a:t>
                      </a:r>
                    </a:p>
                  </a:txBody>
                  <a:tcPr marL="44996" marR="44996" marT="62994" marB="62994" anchor="ctr">
                    <a:lnL>
                      <a:noFill/>
                    </a:lnL>
                    <a:lnR>
                      <a:noFill/>
                    </a:lnR>
                    <a:lnT>
                      <a:noFill/>
                    </a:lnT>
                    <a:lnB>
                      <a:noFill/>
                    </a:lnB>
                    <a:solidFill>
                      <a:srgbClr val="FFFFFF"/>
                    </a:solidFill>
                  </a:tcPr>
                </a:tc>
              </a:tr>
              <a:tr h="305970">
                <a:tc>
                  <a:txBody>
                    <a:bodyPr/>
                    <a:lstStyle/>
                    <a:p>
                      <a:pPr algn="l" fontAlgn="base"/>
                      <a:r>
                        <a:rPr lang="en-IN" sz="1200" b="0"/>
                        <a:t>2.</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a:t>Synchronous transmission is fast.</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a:t>Asynchronous transmission is slow.</a:t>
                      </a:r>
                    </a:p>
                  </a:txBody>
                  <a:tcPr marL="44996" marR="44996" marT="62994" marB="62994" anchor="ctr">
                    <a:lnL>
                      <a:noFill/>
                    </a:lnL>
                    <a:lnR>
                      <a:noFill/>
                    </a:lnR>
                    <a:lnT>
                      <a:noFill/>
                    </a:lnT>
                    <a:lnB>
                      <a:noFill/>
                    </a:lnB>
                    <a:solidFill>
                      <a:srgbClr val="FFFFFF"/>
                    </a:solidFill>
                  </a:tcPr>
                </a:tc>
              </a:tr>
              <a:tr h="395961">
                <a:tc>
                  <a:txBody>
                    <a:bodyPr/>
                    <a:lstStyle/>
                    <a:p>
                      <a:pPr algn="l" fontAlgn="base"/>
                      <a:r>
                        <a:rPr lang="en-IN" sz="1200" b="0"/>
                        <a:t>3.</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dirty="0"/>
                        <a:t>Synchronous transmission is costly.</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dirty="0"/>
                        <a:t>Asynchronous transmission is economical.</a:t>
                      </a:r>
                    </a:p>
                  </a:txBody>
                  <a:tcPr marL="44996" marR="44996" marT="62994" marB="62994" anchor="ctr">
                    <a:lnL>
                      <a:noFill/>
                    </a:lnL>
                    <a:lnR>
                      <a:noFill/>
                    </a:lnR>
                    <a:lnT>
                      <a:noFill/>
                    </a:lnT>
                    <a:lnB>
                      <a:noFill/>
                    </a:lnB>
                    <a:solidFill>
                      <a:srgbClr val="FFFFFF"/>
                    </a:solidFill>
                  </a:tcPr>
                </a:tc>
              </a:tr>
              <a:tr h="575943">
                <a:tc>
                  <a:txBody>
                    <a:bodyPr/>
                    <a:lstStyle/>
                    <a:p>
                      <a:pPr algn="l" fontAlgn="base"/>
                      <a:r>
                        <a:rPr lang="en-IN" sz="1200" b="0"/>
                        <a:t>4.</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a:t>In Synchronous transmission, time interval of transmission is constant.</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a:t>In asynchronous transmission, time interval of transmission is not constant, it is random.</a:t>
                      </a:r>
                    </a:p>
                  </a:txBody>
                  <a:tcPr marL="44996" marR="44996" marT="62994" marB="62994" anchor="ctr">
                    <a:lnL>
                      <a:noFill/>
                    </a:lnL>
                    <a:lnR>
                      <a:noFill/>
                    </a:lnR>
                    <a:lnT>
                      <a:noFill/>
                    </a:lnT>
                    <a:lnB>
                      <a:noFill/>
                    </a:lnB>
                    <a:solidFill>
                      <a:srgbClr val="FFFFFF"/>
                    </a:solidFill>
                  </a:tcPr>
                </a:tc>
              </a:tr>
              <a:tr h="485952">
                <a:tc>
                  <a:txBody>
                    <a:bodyPr/>
                    <a:lstStyle/>
                    <a:p>
                      <a:pPr algn="l" fontAlgn="base"/>
                      <a:r>
                        <a:rPr lang="en-IN" sz="1200" b="0"/>
                        <a:t>5.</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a:t>In Synchronous transmission, There is no gap present between data.</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a:t>In asynchronous transmission, There is present gap between data.</a:t>
                      </a:r>
                    </a:p>
                  </a:txBody>
                  <a:tcPr marL="44996" marR="44996" marT="62994" marB="62994" anchor="ctr">
                    <a:lnL>
                      <a:noFill/>
                    </a:lnL>
                    <a:lnR>
                      <a:noFill/>
                    </a:lnR>
                    <a:lnT>
                      <a:noFill/>
                    </a:lnT>
                    <a:lnB>
                      <a:noFill/>
                    </a:lnB>
                    <a:solidFill>
                      <a:srgbClr val="FFFFFF"/>
                    </a:solidFill>
                  </a:tcPr>
                </a:tc>
              </a:tr>
              <a:tr h="665934">
                <a:tc>
                  <a:txBody>
                    <a:bodyPr/>
                    <a:lstStyle/>
                    <a:p>
                      <a:pPr algn="l" fontAlgn="base"/>
                      <a:r>
                        <a:rPr lang="en-IN" sz="1200" b="0"/>
                        <a:t>6.</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dirty="0"/>
                        <a:t>Efficient use of transmission line is done in synchronous transmission.</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a:t>While in asynchronous transmission, transmission line remains empty during gap in character transmission.</a:t>
                      </a:r>
                    </a:p>
                  </a:txBody>
                  <a:tcPr marL="44996" marR="44996" marT="62994" marB="62994" anchor="ctr">
                    <a:lnL>
                      <a:noFill/>
                    </a:lnL>
                    <a:lnR>
                      <a:noFill/>
                    </a:lnR>
                    <a:lnT>
                      <a:noFill/>
                    </a:lnT>
                    <a:lnB>
                      <a:noFill/>
                    </a:lnB>
                    <a:solidFill>
                      <a:srgbClr val="FFFFFF"/>
                    </a:solidFill>
                  </a:tcPr>
                </a:tc>
              </a:tr>
              <a:tr h="845917">
                <a:tc>
                  <a:txBody>
                    <a:bodyPr/>
                    <a:lstStyle/>
                    <a:p>
                      <a:pPr algn="l" fontAlgn="base"/>
                      <a:r>
                        <a:rPr lang="en-IN" sz="1200" b="0"/>
                        <a:t>7.</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a:t>Synchronous transmission needs precisely synchronized clocks for the information of new bytes.</a:t>
                      </a:r>
                    </a:p>
                  </a:txBody>
                  <a:tcPr marL="44996" marR="44996" marT="62994" marB="62994" anchor="ctr">
                    <a:lnL>
                      <a:noFill/>
                    </a:lnL>
                    <a:lnR>
                      <a:noFill/>
                    </a:lnR>
                    <a:lnT>
                      <a:noFill/>
                    </a:lnT>
                    <a:lnB>
                      <a:noFill/>
                    </a:lnB>
                    <a:solidFill>
                      <a:srgbClr val="FFFFFF"/>
                    </a:solidFill>
                  </a:tcPr>
                </a:tc>
                <a:tc>
                  <a:txBody>
                    <a:bodyPr/>
                    <a:lstStyle/>
                    <a:p>
                      <a:pPr algn="l" fontAlgn="base"/>
                      <a:r>
                        <a:rPr lang="en-IN" sz="1200" b="0" dirty="0"/>
                        <a:t>Asynchronous transmission have no need of synchronized clocks as parity bit is used in this transmission for information of new bytes.</a:t>
                      </a:r>
                    </a:p>
                  </a:txBody>
                  <a:tcPr marL="44996" marR="44996" marT="62994" marB="62994" anchor="ctr">
                    <a:lnL>
                      <a:noFill/>
                    </a:lnL>
                    <a:lnR>
                      <a:noFill/>
                    </a:lnR>
                    <a:lnT>
                      <a:noFill/>
                    </a:lnT>
                    <a:lnB>
                      <a:noFill/>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551837"/>
            <a:ext cx="4572000" cy="1754326"/>
          </a:xfrm>
          <a:prstGeom prst="rect">
            <a:avLst/>
          </a:prstGeom>
        </p:spPr>
        <p:txBody>
          <a:bodyPr>
            <a:spAutoFit/>
          </a:bodyPr>
          <a:lstStyle/>
          <a:p>
            <a:r>
              <a:rPr lang="en-IN" dirty="0" smtClean="0"/>
              <a:t>a specific range of </a:t>
            </a:r>
            <a:r>
              <a:rPr lang="en-IN" b="1" dirty="0" smtClean="0"/>
              <a:t>frequencies</a:t>
            </a:r>
            <a:r>
              <a:rPr lang="en-IN" dirty="0" smtClean="0"/>
              <a:t> in the radio </a:t>
            </a:r>
            <a:r>
              <a:rPr lang="en-IN" b="1" dirty="0" smtClean="0"/>
              <a:t>frequency</a:t>
            </a:r>
            <a:r>
              <a:rPr lang="en-IN" dirty="0" smtClean="0"/>
              <a:t> (RF) </a:t>
            </a:r>
            <a:r>
              <a:rPr lang="en-IN" b="1" dirty="0" smtClean="0"/>
              <a:t>spectrum</a:t>
            </a:r>
            <a:r>
              <a:rPr lang="en-IN" dirty="0" smtClean="0"/>
              <a:t>, which is divided among ranges from very low </a:t>
            </a:r>
            <a:r>
              <a:rPr lang="en-IN" b="1" dirty="0" smtClean="0"/>
              <a:t>frequencies</a:t>
            </a:r>
            <a:r>
              <a:rPr lang="en-IN" dirty="0" smtClean="0"/>
              <a:t> (</a:t>
            </a:r>
            <a:r>
              <a:rPr lang="en-IN" dirty="0" err="1" smtClean="0"/>
              <a:t>vlf</a:t>
            </a:r>
            <a:r>
              <a:rPr lang="en-IN" dirty="0" smtClean="0"/>
              <a:t>) to extremely high </a:t>
            </a:r>
            <a:r>
              <a:rPr lang="en-IN" b="1" dirty="0" smtClean="0"/>
              <a:t>frequencies</a:t>
            </a:r>
            <a:r>
              <a:rPr lang="en-IN" dirty="0" smtClean="0"/>
              <a:t> (</a:t>
            </a:r>
            <a:r>
              <a:rPr lang="en-IN" dirty="0" err="1" smtClean="0"/>
              <a:t>ehf</a:t>
            </a:r>
            <a:r>
              <a:rPr lang="en-IN" dirty="0" smtClean="0"/>
              <a:t>). Each </a:t>
            </a:r>
            <a:r>
              <a:rPr lang="en-IN" b="1" dirty="0" smtClean="0"/>
              <a:t>band</a:t>
            </a:r>
            <a:r>
              <a:rPr lang="en-IN" dirty="0" smtClean="0"/>
              <a:t> has a defined upper and lower </a:t>
            </a:r>
            <a:r>
              <a:rPr lang="en-IN" b="1" dirty="0" smtClean="0"/>
              <a:t>frequency</a:t>
            </a:r>
            <a:r>
              <a:rPr lang="en-IN" dirty="0" smtClean="0"/>
              <a:t> limit.</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1353</TotalTime>
  <Words>1532</Words>
  <Application>Microsoft Office PowerPoint</Application>
  <PresentationFormat>On-screen Show (4:3)</PresentationFormat>
  <Paragraphs>172</Paragraphs>
  <Slides>26</Slides>
  <Notes>2</Notes>
  <HiddenSlides>0</HiddenSlides>
  <MMClips>3</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Digital Transmission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Transmission </dc:title>
  <dc:creator>Hp</dc:creator>
  <cp:lastModifiedBy>PC</cp:lastModifiedBy>
  <cp:revision>123</cp:revision>
  <dcterms:created xsi:type="dcterms:W3CDTF">2021-05-05T02:41:17Z</dcterms:created>
  <dcterms:modified xsi:type="dcterms:W3CDTF">2026-08-06T01:44:52Z</dcterms:modified>
</cp:coreProperties>
</file>